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5.jpe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811" y="-8001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56182" y="2997947"/>
            <a:ext cx="9558576" cy="214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3"/>
              </a:lnSpc>
            </a:pPr>
            <a:r>
              <a:rPr lang="en-US" sz="6758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 P</a:t>
            </a:r>
            <a:r>
              <a:rPr lang="en-US" sz="6758" b="true">
                <a:solidFill>
                  <a:srgbClr val="231971"/>
                </a:solidFill>
                <a:latin typeface="Arimo Bold"/>
                <a:ea typeface="Arimo Bold"/>
                <a:cs typeface="Arimo Bold"/>
                <a:sym typeface="Arimo Bold"/>
              </a:rPr>
              <a:t>lataforma Web (Biometra)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56182" y="6272794"/>
            <a:ext cx="10367762" cy="64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integrantes:Felipe Villanueva,Jose Vasquez,Mauricio Domihual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47584" y="6989664"/>
            <a:ext cx="7744692" cy="43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Fecha:04/09/2026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2720426"/>
            <a:ext cx="7611999" cy="5688425"/>
            <a:chOff x="0" y="0"/>
            <a:chExt cx="10149332" cy="75845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49332" cy="7584567"/>
            </a:xfrm>
            <a:custGeom>
              <a:avLst/>
              <a:gdLst/>
              <a:ahLst/>
              <a:cxnLst/>
              <a:rect r="r" b="b" t="t" l="l"/>
              <a:pathLst>
                <a:path h="7584567" w="10149332">
                  <a:moveTo>
                    <a:pt x="0" y="0"/>
                  </a:moveTo>
                  <a:lnTo>
                    <a:pt x="10149332" y="0"/>
                  </a:lnTo>
                  <a:lnTo>
                    <a:pt x="10149332" y="7584567"/>
                  </a:lnTo>
                  <a:lnTo>
                    <a:pt x="0" y="7584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404" t="0" r="-15404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947584" y="7507624"/>
            <a:ext cx="7744692" cy="100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Profesora:karla marilyn roco ramirez</a:t>
            </a:r>
          </a:p>
          <a:p>
            <a:pPr algn="l">
              <a:lnSpc>
                <a:spcPts val="2900"/>
              </a:lnSpc>
            </a:pPr>
          </a:p>
          <a:p>
            <a:pPr algn="l">
              <a:lnSpc>
                <a:spcPts val="252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0"/>
            <a:ext cx="6863144" cy="10295001"/>
            <a:chOff x="0" y="0"/>
            <a:chExt cx="9150858" cy="1372666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10108"/>
            <a:ext cx="9452677" cy="98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Definición e Impacto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109645"/>
            <a:ext cx="9452705" cy="2565844"/>
            <a:chOff x="0" y="0"/>
            <a:chExt cx="12603607" cy="342112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2603607" cy="3421126"/>
            </a:xfrm>
            <a:custGeom>
              <a:avLst/>
              <a:gdLst/>
              <a:ahLst/>
              <a:cxnLst/>
              <a:rect r="r" b="b" t="t" l="l"/>
              <a:pathLst>
                <a:path h="3421126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421126"/>
                  </a:lnTo>
                  <a:lnTo>
                    <a:pt x="0" y="3421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1" r="0" b="-29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62897" y="2369906"/>
            <a:ext cx="8665369" cy="493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2897" y="2837840"/>
            <a:ext cx="8665369" cy="152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Plataforma web que analiza el movimiento y ejecución de ejercicios mediante métricas biomecánicas, incorporando de forma secundaria un buscador de gimnasios cercanos.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4950466"/>
            <a:ext cx="9452705" cy="2122646"/>
            <a:chOff x="0" y="0"/>
            <a:chExt cx="12603607" cy="2830195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2603607" cy="2830195"/>
            </a:xfrm>
            <a:custGeom>
              <a:avLst/>
              <a:gdLst/>
              <a:ahLst/>
              <a:cxnLst/>
              <a:rect r="r" b="b" t="t" l="l"/>
              <a:pathLst>
                <a:path h="2830195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2830195"/>
                  </a:lnTo>
                  <a:lnTo>
                    <a:pt x="0" y="283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5" r="0" b="-8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62897" y="5210718"/>
            <a:ext cx="8665369" cy="493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Relevancia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2897" y="5678662"/>
            <a:ext cx="8665369" cy="107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Responde a la falta de herramientas que analicen objetivamente la ejecución y progreso en los ejercicios.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991" y="7348023"/>
            <a:ext cx="9452705" cy="2122646"/>
            <a:chOff x="0" y="0"/>
            <a:chExt cx="12603607" cy="2830195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2603607" cy="2830195"/>
            </a:xfrm>
            <a:custGeom>
              <a:avLst/>
              <a:gdLst/>
              <a:ahLst/>
              <a:cxnLst/>
              <a:rect r="r" b="b" t="t" l="l"/>
              <a:pathLst>
                <a:path h="2830195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2830195"/>
                  </a:lnTo>
                  <a:lnTo>
                    <a:pt x="0" y="2830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5" r="0" b="-8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62897" y="7608275"/>
            <a:ext cx="8665369" cy="493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702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Viabilidad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2897" y="8076219"/>
            <a:ext cx="8665369" cy="107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Es factible de desarrollar en un semestre, con alcance acotado, herramientas gratuitas e información pública.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996545"/>
            <a:ext cx="16315868" cy="10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Perfil de Egreso e Intereses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564988"/>
            <a:ext cx="2288953" cy="2288953"/>
            <a:chOff x="0" y="0"/>
            <a:chExt cx="3051937" cy="305193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6151455"/>
            <a:ext cx="5202203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Competencias Aplicadas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6631600"/>
            <a:ext cx="5202203" cy="155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full-stack, diseño UX/UI, integración de APIs de mapas y gestión de bases de datos relacionales.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9819" y="3564988"/>
            <a:ext cx="2288953" cy="2288953"/>
            <a:chOff x="0" y="0"/>
            <a:chExt cx="3051937" cy="30519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49819" y="6151455"/>
            <a:ext cx="5202203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Conexión Profesional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9819" y="6631600"/>
            <a:ext cx="5202203" cy="155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Experiencia real en soluciones digitales para el sector wellness y tecnología aplicada a salud.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06646" y="3564988"/>
            <a:ext cx="2288953" cy="2288953"/>
            <a:chOff x="0" y="0"/>
            <a:chExt cx="3051937" cy="305193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051937" cy="3051937"/>
            </a:xfrm>
            <a:custGeom>
              <a:avLst/>
              <a:gdLst/>
              <a:ahLst/>
              <a:cxnLst/>
              <a:rect r="r" b="b" t="t" l="l"/>
              <a:pathLst>
                <a:path h="3051937" w="3051937">
                  <a:moveTo>
                    <a:pt x="0" y="0"/>
                  </a:moveTo>
                  <a:lnTo>
                    <a:pt x="3051937" y="0"/>
                  </a:lnTo>
                  <a:lnTo>
                    <a:pt x="3051937" y="3051937"/>
                  </a:lnTo>
                  <a:lnTo>
                    <a:pt x="0" y="305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06646" y="6151455"/>
            <a:ext cx="5202203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Intereses del Equipo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06646" y="6631600"/>
            <a:ext cx="5202203" cy="155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Innovación en fitness, tecnología web moderna y emprendimiento digital orientado al usuario final.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6973"/>
            <a:ext cx="1631586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Factibilidad y Riesgos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738638"/>
            <a:ext cx="10397109" cy="5893880"/>
            <a:chOff x="0" y="0"/>
            <a:chExt cx="13862812" cy="785850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62813" cy="7858506"/>
            </a:xfrm>
            <a:custGeom>
              <a:avLst/>
              <a:gdLst/>
              <a:ahLst/>
              <a:cxnLst/>
              <a:rect r="r" b="b" t="t" l="l"/>
              <a:pathLst>
                <a:path h="7858506" w="13862813">
                  <a:moveTo>
                    <a:pt x="0" y="0"/>
                  </a:moveTo>
                  <a:lnTo>
                    <a:pt x="13862813" y="0"/>
                  </a:lnTo>
                  <a:lnTo>
                    <a:pt x="13862813" y="7858506"/>
                  </a:lnTo>
                  <a:lnTo>
                    <a:pt x="0" y="785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3" r="0" b="-43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981983" y="2171614"/>
            <a:ext cx="5348916" cy="2219668"/>
          </a:xfrm>
          <a:custGeom>
            <a:avLst/>
            <a:gdLst/>
            <a:ahLst/>
            <a:cxnLst/>
            <a:rect r="r" b="b" t="t" l="l"/>
            <a:pathLst>
              <a:path h="2219668" w="5348916">
                <a:moveTo>
                  <a:pt x="0" y="0"/>
                </a:moveTo>
                <a:lnTo>
                  <a:pt x="5348916" y="0"/>
                </a:lnTo>
                <a:lnTo>
                  <a:pt x="5348916" y="2219668"/>
                </a:lnTo>
                <a:lnTo>
                  <a:pt x="0" y="2219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247845" y="2380326"/>
            <a:ext cx="4817193" cy="44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23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Factibilidad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47845" y="2885027"/>
            <a:ext cx="4817193" cy="124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1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Tiempo suficiente para desarrollar un MVP con funcionalidades core: búsqueda de gimnasios y guías básicas de ejercicio.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981983" y="4575724"/>
            <a:ext cx="5348916" cy="2219668"/>
          </a:xfrm>
          <a:custGeom>
            <a:avLst/>
            <a:gdLst/>
            <a:ahLst/>
            <a:cxnLst/>
            <a:rect r="r" b="b" t="t" l="l"/>
            <a:pathLst>
              <a:path h="2219668" w="5348916">
                <a:moveTo>
                  <a:pt x="0" y="0"/>
                </a:moveTo>
                <a:lnTo>
                  <a:pt x="5348916" y="0"/>
                </a:lnTo>
                <a:lnTo>
                  <a:pt x="5348916" y="2219668"/>
                </a:lnTo>
                <a:lnTo>
                  <a:pt x="0" y="2219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47845" y="4784436"/>
            <a:ext cx="4817193" cy="44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⚠️</a:t>
            </a:r>
            <a:r>
              <a:rPr lang="en-US" sz="23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Riesgos Identificados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47845" y="5289137"/>
            <a:ext cx="4817193" cy="124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1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Disponibilidad de datos de gimnasios, integración de APIs externas y escalabilidad en la fase inicial del proyecto.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981983" y="6979834"/>
            <a:ext cx="5348916" cy="2219668"/>
          </a:xfrm>
          <a:custGeom>
            <a:avLst/>
            <a:gdLst/>
            <a:ahLst/>
            <a:cxnLst/>
            <a:rect r="r" b="b" t="t" l="l"/>
            <a:pathLst>
              <a:path h="2219668" w="5348916">
                <a:moveTo>
                  <a:pt x="0" y="0"/>
                </a:moveTo>
                <a:lnTo>
                  <a:pt x="5348916" y="0"/>
                </a:lnTo>
                <a:lnTo>
                  <a:pt x="5348916" y="2219668"/>
                </a:lnTo>
                <a:lnTo>
                  <a:pt x="0" y="2219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47845" y="7188556"/>
            <a:ext cx="4817193" cy="44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🛡️</a:t>
            </a:r>
            <a:r>
              <a:rPr lang="en-US" sz="23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Mitigación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47845" y="7693247"/>
            <a:ext cx="4817193" cy="124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18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Usar APIs públicas disponibles, comenzar con una zona geográfica limitada y adoptar arquitectura modular extensible.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568177"/>
            <a:ext cx="16315868" cy="10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Objetivos Generales y Específicos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8511" y="3265313"/>
            <a:ext cx="15890338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Crear una plataforma web funcional que facilite el acceso a información de gimnasios y guías de ejercicio para cualquier usuario.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136621"/>
            <a:ext cx="38100" cy="1546288"/>
            <a:chOff x="0" y="0"/>
            <a:chExt cx="50800" cy="20617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2061718"/>
            </a:xfrm>
            <a:custGeom>
              <a:avLst/>
              <a:gdLst/>
              <a:ahLst/>
              <a:cxnLst/>
              <a:rect r="r" b="b" t="t" l="l"/>
              <a:pathLst>
                <a:path h="206171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36318"/>
                  </a:lnTo>
                  <a:cubicBezTo>
                    <a:pt x="50800" y="2050415"/>
                    <a:pt x="39370" y="2061718"/>
                    <a:pt x="25400" y="2061718"/>
                  </a:cubicBezTo>
                  <a:cubicBezTo>
                    <a:pt x="11430" y="2061718"/>
                    <a:pt x="0" y="2050288"/>
                    <a:pt x="0" y="2036318"/>
                  </a:cubicBezTo>
                  <a:close/>
                </a:path>
              </a:pathLst>
            </a:custGeom>
            <a:solidFill>
              <a:srgbClr val="5E4C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5002149"/>
            <a:ext cx="709232" cy="709232"/>
            <a:chOff x="0" y="0"/>
            <a:chExt cx="945642" cy="94564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56876" y="4944999"/>
            <a:ext cx="6916655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Geolocalización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6876" y="5425154"/>
            <a:ext cx="6916655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Implementar búsqueda de gimnasios basada en ubicación del usuario en tiempo real.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28156" y="5002149"/>
            <a:ext cx="709232" cy="709232"/>
            <a:chOff x="0" y="0"/>
            <a:chExt cx="945642" cy="94564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392042" y="4944999"/>
            <a:ext cx="6916807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de Ejercicios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92042" y="5425154"/>
            <a:ext cx="6916807" cy="154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Registrar y analizar métricas de movimiento y postura de cada ejercicio mediante visión computacional, además de instrucciones y nivel de dificultad.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991" y="7091096"/>
            <a:ext cx="709232" cy="709232"/>
            <a:chOff x="0" y="0"/>
            <a:chExt cx="945642" cy="94564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56876" y="7033946"/>
            <a:ext cx="6916655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Filtros de Búsqueda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6876" y="7514101"/>
            <a:ext cx="6916655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Filtrar gimnasios y ejercicios por grupo muscular, tipo, dificultad y servicios disponibles.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28156" y="7091096"/>
            <a:ext cx="709232" cy="709232"/>
            <a:chOff x="0" y="0"/>
            <a:chExt cx="945642" cy="94564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45642" cy="945642"/>
            </a:xfrm>
            <a:custGeom>
              <a:avLst/>
              <a:gdLst/>
              <a:ahLst/>
              <a:cxnLst/>
              <a:rect r="r" b="b" t="t" l="l"/>
              <a:pathLst>
                <a:path h="945642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392042" y="7033946"/>
            <a:ext cx="6916807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Interfaz Intuitiva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392042" y="7514101"/>
            <a:ext cx="6916807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UX/UI centrado en el usuario, accesible desde cualquier dispositivo y navegador.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355102"/>
            <a:ext cx="16315830" cy="114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Tecnologías usadas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38073" y="2239251"/>
            <a:ext cx="5624474" cy="3552787"/>
          </a:xfrm>
          <a:custGeom>
            <a:avLst/>
            <a:gdLst/>
            <a:ahLst/>
            <a:cxnLst/>
            <a:rect r="r" b="b" t="t" l="l"/>
            <a:pathLst>
              <a:path h="3552787" w="5624474">
                <a:moveTo>
                  <a:pt x="0" y="0"/>
                </a:moveTo>
                <a:lnTo>
                  <a:pt x="5624475" y="0"/>
                </a:lnTo>
                <a:lnTo>
                  <a:pt x="5624475" y="3552787"/>
                </a:lnTo>
                <a:lnTo>
                  <a:pt x="0" y="355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0794" y="2453850"/>
            <a:ext cx="5058956" cy="87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0794" y="3289325"/>
            <a:ext cx="5058956" cy="23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6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React.js, HTML5, CSS3 y JavaScript para construir la interfaz, la navegación y los componentes visuales.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667710" y="2239251"/>
            <a:ext cx="5624474" cy="3552787"/>
          </a:xfrm>
          <a:custGeom>
            <a:avLst/>
            <a:gdLst/>
            <a:ahLst/>
            <a:cxnLst/>
            <a:rect r="r" b="b" t="t" l="l"/>
            <a:pathLst>
              <a:path h="3552787" w="5624474">
                <a:moveTo>
                  <a:pt x="0" y="0"/>
                </a:moveTo>
                <a:lnTo>
                  <a:pt x="5624474" y="0"/>
                </a:lnTo>
                <a:lnTo>
                  <a:pt x="5624474" y="3552787"/>
                </a:lnTo>
                <a:lnTo>
                  <a:pt x="0" y="355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50431" y="2453850"/>
            <a:ext cx="5058956" cy="87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50431" y="3289325"/>
            <a:ext cx="5058956" cy="23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6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Node.js con Express para gestionar la lógica del servidor, las rutas y la comunicación con la base de datos.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597336" y="2239251"/>
            <a:ext cx="5624474" cy="3552787"/>
          </a:xfrm>
          <a:custGeom>
            <a:avLst/>
            <a:gdLst/>
            <a:ahLst/>
            <a:cxnLst/>
            <a:rect r="r" b="b" t="t" l="l"/>
            <a:pathLst>
              <a:path h="3552787" w="5624474">
                <a:moveTo>
                  <a:pt x="0" y="0"/>
                </a:moveTo>
                <a:lnTo>
                  <a:pt x="5624475" y="0"/>
                </a:lnTo>
                <a:lnTo>
                  <a:pt x="5624475" y="3552787"/>
                </a:lnTo>
                <a:lnTo>
                  <a:pt x="0" y="355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80067" y="2453850"/>
            <a:ext cx="5058956" cy="87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Visión Computacional y Análisis de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80067" y="3289325"/>
            <a:ext cx="5058956" cy="23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6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Python con OpenCV, MediaPipe y YOLO para detectar articulaciones, calcular ángulos corporales y generar métricas de ejecución de cada ejercicio.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38073" y="6067234"/>
            <a:ext cx="5624474" cy="3552787"/>
          </a:xfrm>
          <a:custGeom>
            <a:avLst/>
            <a:gdLst/>
            <a:ahLst/>
            <a:cxnLst/>
            <a:rect r="r" b="b" t="t" l="l"/>
            <a:pathLst>
              <a:path h="3552787" w="5624474">
                <a:moveTo>
                  <a:pt x="0" y="0"/>
                </a:moveTo>
                <a:lnTo>
                  <a:pt x="5624475" y="0"/>
                </a:lnTo>
                <a:lnTo>
                  <a:pt x="5624475" y="3552787"/>
                </a:lnTo>
                <a:lnTo>
                  <a:pt x="0" y="355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0794" y="6281833"/>
            <a:ext cx="5058956" cy="87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Base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0794" y="7117318"/>
            <a:ext cx="5058956" cy="23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6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MySQL o PostgreSQL para almacenar y administrar la información de gimnasios, ejercicios, métricas y usuarios.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667710" y="6067234"/>
            <a:ext cx="5624474" cy="3552787"/>
          </a:xfrm>
          <a:custGeom>
            <a:avLst/>
            <a:gdLst/>
            <a:ahLst/>
            <a:cxnLst/>
            <a:rect r="r" b="b" t="t" l="l"/>
            <a:pathLst>
              <a:path h="3552787" w="5624474">
                <a:moveTo>
                  <a:pt x="0" y="0"/>
                </a:moveTo>
                <a:lnTo>
                  <a:pt x="5624474" y="0"/>
                </a:lnTo>
                <a:lnTo>
                  <a:pt x="5624474" y="3552787"/>
                </a:lnTo>
                <a:lnTo>
                  <a:pt x="0" y="355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950431" y="6281833"/>
            <a:ext cx="5058956" cy="87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y Prototipado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0431" y="7117318"/>
            <a:ext cx="5058956" cy="23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6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Figma para el diseño de las pantallas e interfaces de la plataforma.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597336" y="6067234"/>
            <a:ext cx="5624474" cy="3552787"/>
          </a:xfrm>
          <a:custGeom>
            <a:avLst/>
            <a:gdLst/>
            <a:ahLst/>
            <a:cxnLst/>
            <a:rect r="r" b="b" t="t" l="l"/>
            <a:pathLst>
              <a:path h="3552787" w="5624474">
                <a:moveTo>
                  <a:pt x="0" y="0"/>
                </a:moveTo>
                <a:lnTo>
                  <a:pt x="5624475" y="0"/>
                </a:lnTo>
                <a:lnTo>
                  <a:pt x="5624475" y="3552787"/>
                </a:lnTo>
                <a:lnTo>
                  <a:pt x="0" y="355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880067" y="6281833"/>
            <a:ext cx="5058956" cy="87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21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Gestión y Seguimiento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80067" y="7117318"/>
            <a:ext cx="5058956" cy="23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6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Git/GitHub para control de versiones del código y Trello para el seguimiento del progreso y las tareas del equipo.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374152"/>
            <a:ext cx="16315830" cy="112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sz="420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Metodología de Trabajo y Entregables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0475" y="2314308"/>
            <a:ext cx="7882185" cy="7080561"/>
          </a:xfrm>
          <a:custGeom>
            <a:avLst/>
            <a:gdLst/>
            <a:ahLst/>
            <a:cxnLst/>
            <a:rect r="r" b="b" t="t" l="l"/>
            <a:pathLst>
              <a:path h="7080561" w="7882185">
                <a:moveTo>
                  <a:pt x="0" y="0"/>
                </a:moveTo>
                <a:lnTo>
                  <a:pt x="7882185" y="0"/>
                </a:lnTo>
                <a:lnTo>
                  <a:pt x="7882185" y="7080561"/>
                </a:lnTo>
                <a:lnTo>
                  <a:pt x="0" y="7080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3242" y="2539879"/>
            <a:ext cx="7196623" cy="68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Metodología: Scrum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242" y="3169234"/>
            <a:ext cx="7196623" cy="185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Organizamos el proyecto en Sprints cortos, donde se desarrollan y revisan funcionalidades de forma incremental. Al cierre de cada Sprint se evalúa el avance y se ajustan las tareas siguientes.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242" y="4989690"/>
            <a:ext cx="7196623" cy="252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Tareas y roles distribuidos entre el equipo: análisis, diseño, backend, base de datos y pruebas.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Reuniones breves de seguimiento para revisar avances y bloqueos.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Priorización de funcionalidades principales en los primeros Sprints (catálogos y búsqueda).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Retroalimentación docente al final de cada Sprint para ajustar el siguiente ciclo.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438084" y="2314308"/>
            <a:ext cx="7882185" cy="7080561"/>
          </a:xfrm>
          <a:custGeom>
            <a:avLst/>
            <a:gdLst/>
            <a:ahLst/>
            <a:cxnLst/>
            <a:rect r="r" b="b" t="t" l="l"/>
            <a:pathLst>
              <a:path h="7080561" w="7882185">
                <a:moveTo>
                  <a:pt x="0" y="0"/>
                </a:moveTo>
                <a:lnTo>
                  <a:pt x="7882186" y="0"/>
                </a:lnTo>
                <a:lnTo>
                  <a:pt x="7882186" y="7080561"/>
                </a:lnTo>
                <a:lnTo>
                  <a:pt x="0" y="7080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80851" y="2539879"/>
            <a:ext cx="7196623" cy="68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Entregables (por definir)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80851" y="3188284"/>
            <a:ext cx="7196623" cy="93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Como avance, se plantean los siguientes entregables preliminares, sujetos a validación con la docente: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80851" y="4013921"/>
            <a:ext cx="7196623" cy="521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Documento de requerimientos y plan de trabajo (Sprint 0).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Prototipo de la plataforma con las pantallas principales.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Modelo y estructura de la base de datos de gimnasios, ejercicios y usuarios.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funcional inicial de gimnasios y ejercicios.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Registro de tareas realizadas y pendientes por Sprint.</a:t>
            </a:r>
          </a:p>
          <a:p>
            <a:pPr algn="l" marL="380423" indent="-126808" lvl="2">
              <a:lnSpc>
                <a:spcPts val="2549"/>
              </a:lnSpc>
              <a:buFont typeface="Arial"/>
              <a:buChar char="⚬"/>
            </a:pPr>
            <a:r>
              <a:rPr lang="en-US" sz="180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Informe final con documentación técnica y manual de usuario.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3242" y="7833294"/>
            <a:ext cx="7007391" cy="951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4222" indent="-124741" lvl="2">
              <a:lnSpc>
                <a:spcPts val="2507"/>
              </a:lnSpc>
              <a:buFont typeface="Arial"/>
              <a:buChar char="⚬"/>
            </a:pPr>
            <a:r>
              <a:rPr lang="en-US" b="true" sz="1771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Tarea: Scrum Master Mauricio Domihual</a:t>
            </a:r>
          </a:p>
          <a:p>
            <a:pPr algn="l" marL="374222" indent="-124741" lvl="2">
              <a:lnSpc>
                <a:spcPts val="2507"/>
              </a:lnSpc>
              <a:buFont typeface="Arial"/>
              <a:buChar char="⚬"/>
            </a:pPr>
            <a:r>
              <a:rPr lang="en-US" b="true" sz="1771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Product Owner: Felipe Villanueva</a:t>
            </a:r>
          </a:p>
          <a:p>
            <a:pPr algn="l" marL="374271" indent="-124757" lvl="2">
              <a:lnSpc>
                <a:spcPts val="2508"/>
              </a:lnSpc>
              <a:buFont typeface="Arial"/>
              <a:buChar char="⚬"/>
            </a:pPr>
            <a:r>
              <a:rPr lang="en-US" b="true" sz="1771">
                <a:solidFill>
                  <a:srgbClr val="2A2742"/>
                </a:solidFill>
                <a:latin typeface="Arimo Bold"/>
                <a:ea typeface="Arimo Bold"/>
                <a:cs typeface="Arimo Bold"/>
                <a:sym typeface="Arimo Bold"/>
              </a:rPr>
              <a:t>Scrum Team: Jose Vasquez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03796"/>
            <a:ext cx="16315868" cy="89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Plan de Trabajo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31856" y="2372239"/>
            <a:ext cx="38100" cy="7004590"/>
            <a:chOff x="0" y="0"/>
            <a:chExt cx="50800" cy="93394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9339453"/>
            </a:xfrm>
            <a:custGeom>
              <a:avLst/>
              <a:gdLst/>
              <a:ahLst/>
              <a:cxnLst/>
              <a:rect r="r" b="b" t="t" l="l"/>
              <a:pathLst>
                <a:path h="9339453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314053"/>
                  </a:lnTo>
                  <a:cubicBezTo>
                    <a:pt x="50800" y="9328150"/>
                    <a:pt x="39370" y="9339453"/>
                    <a:pt x="25400" y="9339453"/>
                  </a:cubicBezTo>
                  <a:cubicBezTo>
                    <a:pt x="11430" y="9339453"/>
                    <a:pt x="0" y="9328023"/>
                    <a:pt x="0" y="9314053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18669" y="2672363"/>
            <a:ext cx="851154" cy="38100"/>
            <a:chOff x="0" y="0"/>
            <a:chExt cx="1134872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819226" y="2359724"/>
            <a:ext cx="663378" cy="663378"/>
          </a:xfrm>
          <a:custGeom>
            <a:avLst/>
            <a:gdLst/>
            <a:ahLst/>
            <a:cxnLst/>
            <a:rect r="r" b="b" t="t" l="l"/>
            <a:pathLst>
              <a:path h="663378" w="663378">
                <a:moveTo>
                  <a:pt x="0" y="0"/>
                </a:moveTo>
                <a:lnTo>
                  <a:pt x="663378" y="0"/>
                </a:lnTo>
                <a:lnTo>
                  <a:pt x="663378" y="663378"/>
                </a:lnTo>
                <a:lnTo>
                  <a:pt x="0" y="663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938155" y="2425408"/>
            <a:ext cx="425520" cy="532028"/>
            <a:chOff x="0" y="0"/>
            <a:chExt cx="567360" cy="7093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7309" cy="709422"/>
            </a:xfrm>
            <a:custGeom>
              <a:avLst/>
              <a:gdLst/>
              <a:ahLst/>
              <a:cxnLst/>
              <a:rect r="r" b="b" t="t" l="l"/>
              <a:pathLst>
                <a:path h="709422" w="567309">
                  <a:moveTo>
                    <a:pt x="0" y="0"/>
                  </a:moveTo>
                  <a:lnTo>
                    <a:pt x="567309" y="0"/>
                  </a:lnTo>
                  <a:lnTo>
                    <a:pt x="567309" y="709422"/>
                  </a:lnTo>
                  <a:lnTo>
                    <a:pt x="0" y="7094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39" t="0" r="-110548" b="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938155" y="2403977"/>
            <a:ext cx="425520" cy="553460"/>
            <a:chOff x="0" y="0"/>
            <a:chExt cx="567360" cy="7379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7360" cy="737946"/>
            </a:xfrm>
            <a:custGeom>
              <a:avLst/>
              <a:gdLst/>
              <a:ahLst/>
              <a:cxnLst/>
              <a:rect r="r" b="b" t="t" l="l"/>
              <a:pathLst>
                <a:path h="737946" w="567360">
                  <a:moveTo>
                    <a:pt x="0" y="0"/>
                  </a:moveTo>
                  <a:lnTo>
                    <a:pt x="567360" y="0"/>
                  </a:lnTo>
                  <a:lnTo>
                    <a:pt x="567360" y="737946"/>
                  </a:lnTo>
                  <a:lnTo>
                    <a:pt x="0" y="7379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80" t="0" r="-11688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67360" cy="766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2991" y="2412502"/>
            <a:ext cx="6739271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1–2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91" y="2892647"/>
            <a:ext cx="6739271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Levantamiento y análisis de requerimientos, y planificación del proyecto y cronograma.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31969" y="4374794"/>
            <a:ext cx="851154" cy="38100"/>
            <a:chOff x="0" y="0"/>
            <a:chExt cx="1134872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8819226" y="4062165"/>
            <a:ext cx="663378" cy="663378"/>
          </a:xfrm>
          <a:custGeom>
            <a:avLst/>
            <a:gdLst/>
            <a:ahLst/>
            <a:cxnLst/>
            <a:rect r="r" b="b" t="t" l="l"/>
            <a:pathLst>
              <a:path h="663378" w="663378">
                <a:moveTo>
                  <a:pt x="0" y="0"/>
                </a:moveTo>
                <a:lnTo>
                  <a:pt x="663378" y="0"/>
                </a:lnTo>
                <a:lnTo>
                  <a:pt x="663378" y="663378"/>
                </a:lnTo>
                <a:lnTo>
                  <a:pt x="0" y="663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938155" y="4127849"/>
            <a:ext cx="425520" cy="532028"/>
            <a:chOff x="0" y="0"/>
            <a:chExt cx="567360" cy="7093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7309" cy="709422"/>
            </a:xfrm>
            <a:custGeom>
              <a:avLst/>
              <a:gdLst/>
              <a:ahLst/>
              <a:cxnLst/>
              <a:rect r="r" b="b" t="t" l="l"/>
              <a:pathLst>
                <a:path h="709422" w="567309">
                  <a:moveTo>
                    <a:pt x="0" y="0"/>
                  </a:moveTo>
                  <a:lnTo>
                    <a:pt x="567309" y="0"/>
                  </a:lnTo>
                  <a:lnTo>
                    <a:pt x="567309" y="709422"/>
                  </a:lnTo>
                  <a:lnTo>
                    <a:pt x="0" y="7094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39" t="0" r="-110548" b="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38155" y="4106418"/>
            <a:ext cx="425520" cy="553460"/>
            <a:chOff x="0" y="0"/>
            <a:chExt cx="567360" cy="7379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7360" cy="737946"/>
            </a:xfrm>
            <a:custGeom>
              <a:avLst/>
              <a:gdLst/>
              <a:ahLst/>
              <a:cxnLst/>
              <a:rect r="r" b="b" t="t" l="l"/>
              <a:pathLst>
                <a:path h="737946" w="567360">
                  <a:moveTo>
                    <a:pt x="0" y="0"/>
                  </a:moveTo>
                  <a:lnTo>
                    <a:pt x="567360" y="0"/>
                  </a:lnTo>
                  <a:lnTo>
                    <a:pt x="567360" y="737946"/>
                  </a:lnTo>
                  <a:lnTo>
                    <a:pt x="0" y="7379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80" t="0" r="-11688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567360" cy="766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569578" y="4114933"/>
            <a:ext cx="6739271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3–4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69578" y="4595089"/>
            <a:ext cx="6739271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de la interfaz (UI/UX) y prototipado de las pantallas principales de la plataforma.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018669" y="5842197"/>
            <a:ext cx="851154" cy="38100"/>
            <a:chOff x="0" y="0"/>
            <a:chExt cx="1134872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8819226" y="5529567"/>
            <a:ext cx="663378" cy="663378"/>
          </a:xfrm>
          <a:custGeom>
            <a:avLst/>
            <a:gdLst/>
            <a:ahLst/>
            <a:cxnLst/>
            <a:rect r="r" b="b" t="t" l="l"/>
            <a:pathLst>
              <a:path h="663378" w="663378">
                <a:moveTo>
                  <a:pt x="0" y="0"/>
                </a:moveTo>
                <a:lnTo>
                  <a:pt x="663378" y="0"/>
                </a:lnTo>
                <a:lnTo>
                  <a:pt x="663378" y="663378"/>
                </a:lnTo>
                <a:lnTo>
                  <a:pt x="0" y="663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8938155" y="5595252"/>
            <a:ext cx="425520" cy="532028"/>
            <a:chOff x="0" y="0"/>
            <a:chExt cx="567360" cy="7093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7309" cy="709422"/>
            </a:xfrm>
            <a:custGeom>
              <a:avLst/>
              <a:gdLst/>
              <a:ahLst/>
              <a:cxnLst/>
              <a:rect r="r" b="b" t="t" l="l"/>
              <a:pathLst>
                <a:path h="709422" w="567309">
                  <a:moveTo>
                    <a:pt x="0" y="0"/>
                  </a:moveTo>
                  <a:lnTo>
                    <a:pt x="567309" y="0"/>
                  </a:lnTo>
                  <a:lnTo>
                    <a:pt x="567309" y="709422"/>
                  </a:lnTo>
                  <a:lnTo>
                    <a:pt x="0" y="7094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39" t="0" r="-110548" b="7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938155" y="5573820"/>
            <a:ext cx="425520" cy="553460"/>
            <a:chOff x="0" y="0"/>
            <a:chExt cx="567360" cy="7379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7360" cy="737946"/>
            </a:xfrm>
            <a:custGeom>
              <a:avLst/>
              <a:gdLst/>
              <a:ahLst/>
              <a:cxnLst/>
              <a:rect r="r" b="b" t="t" l="l"/>
              <a:pathLst>
                <a:path h="737946" w="567360">
                  <a:moveTo>
                    <a:pt x="0" y="0"/>
                  </a:moveTo>
                  <a:lnTo>
                    <a:pt x="567360" y="0"/>
                  </a:lnTo>
                  <a:lnTo>
                    <a:pt x="567360" y="737946"/>
                  </a:lnTo>
                  <a:lnTo>
                    <a:pt x="0" y="7379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80" t="0" r="-11688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67360" cy="766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92991" y="5582336"/>
            <a:ext cx="6739271" cy="5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5–14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991" y="6062491"/>
            <a:ext cx="6739271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e integración de backend, frontend, base de datos y módulo de visión computacional.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31969" y="7309599"/>
            <a:ext cx="851154" cy="38100"/>
            <a:chOff x="0" y="0"/>
            <a:chExt cx="1134872" cy="50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4872" cy="50800"/>
            </a:xfrm>
            <a:custGeom>
              <a:avLst/>
              <a:gdLst/>
              <a:ahLst/>
              <a:cxnLst/>
              <a:rect r="r" b="b" t="t" l="l"/>
              <a:pathLst>
                <a:path h="50800" w="11348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9472" y="0"/>
                  </a:lnTo>
                  <a:cubicBezTo>
                    <a:pt x="1123569" y="0"/>
                    <a:pt x="1134872" y="11430"/>
                    <a:pt x="1134872" y="25400"/>
                  </a:cubicBezTo>
                  <a:cubicBezTo>
                    <a:pt x="1134872" y="39497"/>
                    <a:pt x="1123442" y="50800"/>
                    <a:pt x="110947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BDB8DF"/>
            </a:soli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8819226" y="6996970"/>
            <a:ext cx="663378" cy="663378"/>
          </a:xfrm>
          <a:custGeom>
            <a:avLst/>
            <a:gdLst/>
            <a:ahLst/>
            <a:cxnLst/>
            <a:rect r="r" b="b" t="t" l="l"/>
            <a:pathLst>
              <a:path h="663378" w="663378">
                <a:moveTo>
                  <a:pt x="0" y="0"/>
                </a:moveTo>
                <a:lnTo>
                  <a:pt x="663378" y="0"/>
                </a:lnTo>
                <a:lnTo>
                  <a:pt x="663378" y="663378"/>
                </a:lnTo>
                <a:lnTo>
                  <a:pt x="0" y="663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8938155" y="7062654"/>
            <a:ext cx="425520" cy="532028"/>
            <a:chOff x="0" y="0"/>
            <a:chExt cx="567360" cy="7093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7309" cy="709422"/>
            </a:xfrm>
            <a:custGeom>
              <a:avLst/>
              <a:gdLst/>
              <a:ahLst/>
              <a:cxnLst/>
              <a:rect r="r" b="b" t="t" l="l"/>
              <a:pathLst>
                <a:path h="709422" w="567309">
                  <a:moveTo>
                    <a:pt x="0" y="0"/>
                  </a:moveTo>
                  <a:lnTo>
                    <a:pt x="567309" y="0"/>
                  </a:lnTo>
                  <a:lnTo>
                    <a:pt x="567309" y="709422"/>
                  </a:lnTo>
                  <a:lnTo>
                    <a:pt x="0" y="7094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0539" t="0" r="-110548" b="7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938155" y="7041223"/>
            <a:ext cx="425520" cy="553460"/>
            <a:chOff x="0" y="0"/>
            <a:chExt cx="567360" cy="73794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7360" cy="737946"/>
            </a:xfrm>
            <a:custGeom>
              <a:avLst/>
              <a:gdLst/>
              <a:ahLst/>
              <a:cxnLst/>
              <a:rect r="r" b="b" t="t" l="l"/>
              <a:pathLst>
                <a:path h="737946" w="567360">
                  <a:moveTo>
                    <a:pt x="0" y="0"/>
                  </a:moveTo>
                  <a:lnTo>
                    <a:pt x="567360" y="0"/>
                  </a:lnTo>
                  <a:lnTo>
                    <a:pt x="567360" y="737946"/>
                  </a:lnTo>
                  <a:lnTo>
                    <a:pt x="0" y="7379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6880" t="0" r="-11688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67360" cy="766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2"/>
                </a:lnSpc>
              </a:pPr>
              <a:r>
                <a:rPr lang="en-US" sz="3302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569578" y="7049738"/>
            <a:ext cx="6739271" cy="44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Semanas 15-18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569578" y="7529894"/>
            <a:ext cx="6739271" cy="10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Validación funcional, pruebas con usuarios, ajustes finales y cierre del proyecto.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943" y="10032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591017"/>
            <a:ext cx="16315801" cy="90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487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Entregabl</a:t>
            </a:r>
            <a:r>
              <a:rPr lang="en-US" sz="4878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es del Proyecto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752344"/>
            <a:ext cx="10393204" cy="5891784"/>
            <a:chOff x="0" y="0"/>
            <a:chExt cx="13857605" cy="785571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57605" cy="7855712"/>
            </a:xfrm>
            <a:custGeom>
              <a:avLst/>
              <a:gdLst/>
              <a:ahLst/>
              <a:cxnLst/>
              <a:rect r="r" b="b" t="t" l="l"/>
              <a:pathLst>
                <a:path h="7855712" w="13857605">
                  <a:moveTo>
                    <a:pt x="0" y="0"/>
                  </a:moveTo>
                  <a:lnTo>
                    <a:pt x="13857605" y="0"/>
                  </a:lnTo>
                  <a:lnTo>
                    <a:pt x="13857605" y="7855712"/>
                  </a:lnTo>
                  <a:lnTo>
                    <a:pt x="0" y="7855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2" r="0" b="-4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01348" y="2014395"/>
            <a:ext cx="5316903" cy="48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4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Entregables Técnicos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1348" y="2571407"/>
            <a:ext cx="5316903" cy="252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112" indent="-137371" lvl="2">
              <a:lnSpc>
                <a:spcPts val="3512"/>
              </a:lnSpc>
              <a:buFont typeface="Arial"/>
              <a:buChar char="⚬"/>
            </a:pPr>
            <a:r>
              <a:rPr lang="en-US" sz="19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Código fuente completo en repositorio Git con historial de commits</a:t>
            </a:r>
          </a:p>
          <a:p>
            <a:pPr algn="l" marL="412112" indent="-137371" lvl="2">
              <a:lnSpc>
                <a:spcPts val="3512"/>
              </a:lnSpc>
              <a:buFont typeface="Arial"/>
              <a:buChar char="⚬"/>
            </a:pPr>
            <a:r>
              <a:rPr lang="en-US" sz="19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Documentación técnica del modelo de visión computacional y la arquitectura del sistema</a:t>
            </a:r>
          </a:p>
          <a:p>
            <a:pPr algn="l" marL="412112" indent="-137371" lvl="2">
              <a:lnSpc>
                <a:spcPts val="3512"/>
              </a:lnSpc>
              <a:buFont typeface="Arial"/>
              <a:buChar char="⚬"/>
            </a:pPr>
            <a:r>
              <a:rPr lang="en-US" sz="19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Manual de usuario con capturas de pantalla y flujos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66527" y="5298622"/>
            <a:ext cx="5316903" cy="537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4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Demostración Funcional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91889" y="5703168"/>
            <a:ext cx="5316903" cy="21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112" indent="-137371" lvl="2">
              <a:lnSpc>
                <a:spcPts val="3512"/>
              </a:lnSpc>
              <a:buFont typeface="Arial"/>
              <a:buChar char="⚬"/>
            </a:pPr>
            <a:r>
              <a:rPr lang="en-US" sz="19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Video de un ejercicio con métricas de movimiento y postura generadas por el sistema</a:t>
            </a:r>
          </a:p>
          <a:p>
            <a:pPr algn="l" marL="412112" indent="-137371" lvl="2">
              <a:lnSpc>
                <a:spcPts val="3512"/>
              </a:lnSpc>
              <a:buFont typeface="Arial"/>
              <a:buChar char="⚬"/>
            </a:pPr>
            <a:r>
              <a:rPr lang="en-US" sz="19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Catálogo funcional de ejercicios y gimnasios con filtros de búsqueda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348" y="8090545"/>
            <a:ext cx="5316903" cy="48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400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Métricas de Éxito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348" y="8647557"/>
            <a:ext cx="5316903" cy="126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112" indent="-137371" lvl="2">
              <a:lnSpc>
                <a:spcPts val="3512"/>
              </a:lnSpc>
              <a:buFont typeface="Arial"/>
              <a:buChar char="⚬"/>
            </a:pPr>
            <a:r>
              <a:rPr lang="en-US" sz="19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Precisión del análisis biomecánico, tiempo de respuesta y satisfacción en testing con usuarios reales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11" cy="10295001"/>
            <a:chOff x="0" y="0"/>
            <a:chExt cx="24402415" cy="13726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AFA">
                <a:alpha val="8039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44" cy="10295001"/>
            <a:chOff x="0" y="0"/>
            <a:chExt cx="9150858" cy="13726668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807491"/>
            <a:ext cx="9452677" cy="76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sz="4353">
                <a:solidFill>
                  <a:srgbClr val="231971"/>
                </a:solidFill>
                <a:latin typeface="Arimo"/>
                <a:ea typeface="Arimo"/>
                <a:cs typeface="Arimo"/>
                <a:sym typeface="Arimo"/>
              </a:rPr>
              <a:t>Próximos Pasos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6182" y="1836191"/>
            <a:ext cx="443246" cy="277035"/>
            <a:chOff x="0" y="0"/>
            <a:chExt cx="590994" cy="3693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1058" cy="369443"/>
            </a:xfrm>
            <a:custGeom>
              <a:avLst/>
              <a:gdLst/>
              <a:ahLst/>
              <a:cxnLst/>
              <a:rect r="r" b="b" t="t" l="l"/>
              <a:pathLst>
                <a:path h="369443" w="591058">
                  <a:moveTo>
                    <a:pt x="0" y="0"/>
                  </a:moveTo>
                  <a:lnTo>
                    <a:pt x="591058" y="0"/>
                  </a:lnTo>
                  <a:lnTo>
                    <a:pt x="591058" y="369443"/>
                  </a:lnTo>
                  <a:lnTo>
                    <a:pt x="0" y="3694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244" t="0" r="-30234" b="1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856182" y="1821904"/>
            <a:ext cx="443246" cy="291322"/>
            <a:chOff x="0" y="0"/>
            <a:chExt cx="590994" cy="388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0995" cy="388430"/>
            </a:xfrm>
            <a:custGeom>
              <a:avLst/>
              <a:gdLst/>
              <a:ahLst/>
              <a:cxnLst/>
              <a:rect r="r" b="b" t="t" l="l"/>
              <a:pathLst>
                <a:path h="388430" w="590995">
                  <a:moveTo>
                    <a:pt x="0" y="0"/>
                  </a:moveTo>
                  <a:lnTo>
                    <a:pt x="590995" y="0"/>
                  </a:lnTo>
                  <a:lnTo>
                    <a:pt x="590995" y="388430"/>
                  </a:lnTo>
                  <a:lnTo>
                    <a:pt x="0" y="388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327" t="0" r="-34327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90994" cy="40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56182" y="2184273"/>
            <a:ext cx="9452705" cy="28575"/>
            <a:chOff x="0" y="0"/>
            <a:chExt cx="12603607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856182" y="2295134"/>
            <a:ext cx="9452677" cy="4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Módulo de Visión Computacional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56182" y="2688088"/>
            <a:ext cx="9452677" cy="7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Desarrollar la detección de articulaciones y el cálculo de métricas de movimiento con MediaPipe y OpenCV.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6182" y="3773214"/>
            <a:ext cx="443246" cy="277035"/>
            <a:chOff x="0" y="0"/>
            <a:chExt cx="590994" cy="3693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1058" cy="369443"/>
            </a:xfrm>
            <a:custGeom>
              <a:avLst/>
              <a:gdLst/>
              <a:ahLst/>
              <a:cxnLst/>
              <a:rect r="r" b="b" t="t" l="l"/>
              <a:pathLst>
                <a:path h="369443" w="591058">
                  <a:moveTo>
                    <a:pt x="0" y="0"/>
                  </a:moveTo>
                  <a:lnTo>
                    <a:pt x="591058" y="0"/>
                  </a:lnTo>
                  <a:lnTo>
                    <a:pt x="591058" y="369443"/>
                  </a:lnTo>
                  <a:lnTo>
                    <a:pt x="0" y="3694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244" t="0" r="-30234" b="1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56182" y="3758927"/>
            <a:ext cx="443246" cy="291322"/>
            <a:chOff x="0" y="0"/>
            <a:chExt cx="590994" cy="3884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0995" cy="388430"/>
            </a:xfrm>
            <a:custGeom>
              <a:avLst/>
              <a:gdLst/>
              <a:ahLst/>
              <a:cxnLst/>
              <a:rect r="r" b="b" t="t" l="l"/>
              <a:pathLst>
                <a:path h="388430" w="590995">
                  <a:moveTo>
                    <a:pt x="0" y="0"/>
                  </a:moveTo>
                  <a:lnTo>
                    <a:pt x="590995" y="0"/>
                  </a:lnTo>
                  <a:lnTo>
                    <a:pt x="590995" y="388430"/>
                  </a:lnTo>
                  <a:lnTo>
                    <a:pt x="0" y="388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327" t="0" r="-3432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90994" cy="40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56182" y="4121296"/>
            <a:ext cx="9452705" cy="28575"/>
            <a:chOff x="0" y="0"/>
            <a:chExt cx="12603607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856182" y="4232158"/>
            <a:ext cx="9452677" cy="4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Backend y Base de Datos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56182" y="4625111"/>
            <a:ext cx="9452677" cy="7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Modelar y poblar la base de datos de gimnasios, ejercicios y usuarios, e implementar la API del servidor.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856182" y="5710238"/>
            <a:ext cx="443246" cy="277035"/>
            <a:chOff x="0" y="0"/>
            <a:chExt cx="590994" cy="3693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1058" cy="369443"/>
            </a:xfrm>
            <a:custGeom>
              <a:avLst/>
              <a:gdLst/>
              <a:ahLst/>
              <a:cxnLst/>
              <a:rect r="r" b="b" t="t" l="l"/>
              <a:pathLst>
                <a:path h="369443" w="591058">
                  <a:moveTo>
                    <a:pt x="0" y="0"/>
                  </a:moveTo>
                  <a:lnTo>
                    <a:pt x="591058" y="0"/>
                  </a:lnTo>
                  <a:lnTo>
                    <a:pt x="591058" y="369443"/>
                  </a:lnTo>
                  <a:lnTo>
                    <a:pt x="0" y="3694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244" t="0" r="-30234" b="1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56182" y="5695950"/>
            <a:ext cx="443246" cy="291322"/>
            <a:chOff x="0" y="0"/>
            <a:chExt cx="590994" cy="3884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0995" cy="388430"/>
            </a:xfrm>
            <a:custGeom>
              <a:avLst/>
              <a:gdLst/>
              <a:ahLst/>
              <a:cxnLst/>
              <a:rect r="r" b="b" t="t" l="l"/>
              <a:pathLst>
                <a:path h="388430" w="590995">
                  <a:moveTo>
                    <a:pt x="0" y="0"/>
                  </a:moveTo>
                  <a:lnTo>
                    <a:pt x="590995" y="0"/>
                  </a:lnTo>
                  <a:lnTo>
                    <a:pt x="590995" y="388430"/>
                  </a:lnTo>
                  <a:lnTo>
                    <a:pt x="0" y="388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327" t="0" r="-3432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90994" cy="40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56182" y="6058319"/>
            <a:ext cx="9452705" cy="28575"/>
            <a:chOff x="0" y="0"/>
            <a:chExt cx="12603607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856182" y="6169181"/>
            <a:ext cx="9452677" cy="4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 y Catálogo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56182" y="6562134"/>
            <a:ext cx="9452677" cy="7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Construir las pantallas de búsqueda, filtros y visualización de resultados de gimnasios y ejercicios.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856182" y="7647261"/>
            <a:ext cx="443246" cy="277035"/>
            <a:chOff x="0" y="0"/>
            <a:chExt cx="590994" cy="3693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1058" cy="369443"/>
            </a:xfrm>
            <a:custGeom>
              <a:avLst/>
              <a:gdLst/>
              <a:ahLst/>
              <a:cxnLst/>
              <a:rect r="r" b="b" t="t" l="l"/>
              <a:pathLst>
                <a:path h="369443" w="591058">
                  <a:moveTo>
                    <a:pt x="0" y="0"/>
                  </a:moveTo>
                  <a:lnTo>
                    <a:pt x="591058" y="0"/>
                  </a:lnTo>
                  <a:lnTo>
                    <a:pt x="591058" y="369443"/>
                  </a:lnTo>
                  <a:lnTo>
                    <a:pt x="0" y="36944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244" t="0" r="-30234" b="1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856182" y="7632973"/>
            <a:ext cx="443246" cy="291322"/>
            <a:chOff x="0" y="0"/>
            <a:chExt cx="590994" cy="3884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0995" cy="388430"/>
            </a:xfrm>
            <a:custGeom>
              <a:avLst/>
              <a:gdLst/>
              <a:ahLst/>
              <a:cxnLst/>
              <a:rect r="r" b="b" t="t" l="l"/>
              <a:pathLst>
                <a:path h="388430" w="590995">
                  <a:moveTo>
                    <a:pt x="0" y="0"/>
                  </a:moveTo>
                  <a:lnTo>
                    <a:pt x="590995" y="0"/>
                  </a:lnTo>
                  <a:lnTo>
                    <a:pt x="590995" y="388430"/>
                  </a:lnTo>
                  <a:lnTo>
                    <a:pt x="0" y="388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327" t="0" r="-3432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90994" cy="407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2A2742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856182" y="7995342"/>
            <a:ext cx="9452705" cy="28575"/>
            <a:chOff x="0" y="0"/>
            <a:chExt cx="12603607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603607" cy="38100"/>
            </a:xfrm>
            <a:custGeom>
              <a:avLst/>
              <a:gdLst/>
              <a:ahLst/>
              <a:cxnLst/>
              <a:rect r="r" b="b" t="t" l="l"/>
              <a:pathLst>
                <a:path h="38100" w="12603607">
                  <a:moveTo>
                    <a:pt x="0" y="0"/>
                  </a:moveTo>
                  <a:lnTo>
                    <a:pt x="12603607" y="0"/>
                  </a:lnTo>
                  <a:lnTo>
                    <a:pt x="1260360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E4CE6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7856182" y="8106204"/>
            <a:ext cx="9452677" cy="40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17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Integración y Pruebas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56182" y="8499157"/>
            <a:ext cx="9452677" cy="74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5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Conectar todos los módulos desarrollados y realizar pruebas con usuarios para ajustar la plataforma.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DAHUPeCZpF4</dc:identifier>
  <dcterms:modified xsi:type="dcterms:W3CDTF">2011-08-01T06:04:30Z</dcterms:modified>
  <cp:revision>1</cp:revision>
  <dc:title>ppt_final (1).pptx</dc:title>
</cp:coreProperties>
</file>