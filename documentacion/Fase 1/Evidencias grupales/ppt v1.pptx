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Outfit ExtraBold"/>
      <p:bold r:id="rId14"/>
    </p:embeddedFont>
    <p:embeddedFont>
      <p:font typeface="Arimo"/>
      <p:regular r:id="rId15"/>
      <p:bold r:id="rId16"/>
      <p:italic r:id="rId17"/>
      <p:boldItalic r:id="rId18"/>
    </p:embeddedFont>
    <p:embeddedFont>
      <p:font typeface="Outfit Light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Light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mo-regular.fntdata"/><Relationship Id="rId14" Type="http://schemas.openxmlformats.org/officeDocument/2006/relationships/font" Target="fonts/OutfitExtraBold-bold.fntdata"/><Relationship Id="rId17" Type="http://schemas.openxmlformats.org/officeDocument/2006/relationships/font" Target="fonts/Arimo-italic.fntdata"/><Relationship Id="rId16" Type="http://schemas.openxmlformats.org/officeDocument/2006/relationships/font" Target="fonts/Arimo-bold.fntdata"/><Relationship Id="rId5" Type="http://schemas.openxmlformats.org/officeDocument/2006/relationships/slide" Target="slides/slide1.xml"/><Relationship Id="rId19" Type="http://schemas.openxmlformats.org/officeDocument/2006/relationships/font" Target="fonts/OutfitLight-regular.fntdata"/><Relationship Id="rId6" Type="http://schemas.openxmlformats.org/officeDocument/2006/relationships/slide" Target="slides/slide2.xml"/><Relationship Id="rId18" Type="http://schemas.openxmlformats.org/officeDocument/2006/relationships/font" Target="fonts/Arim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490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15.jpg"/><Relationship Id="rId5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5233360" y="2250083"/>
            <a:ext cx="6296860" cy="17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700"/>
              <a:buFont typeface="Outfit ExtraBold"/>
              <a:buNone/>
            </a:pPr>
            <a:r>
              <a:rPr b="0" i="0" lang="en-US" sz="37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Plataforma Web de Gimnasios: Ejercicio Inteligente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233360" y="4305498"/>
            <a:ext cx="6906444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integrantes:Felipe Villanueva,Jose Vasquez,Mauricio D</a:t>
            </a:r>
            <a:r>
              <a:rPr lang="en-US" sz="1450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ominhual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6371050" y="5341550"/>
            <a:ext cx="528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19809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661475" y="549176"/>
            <a:ext cx="6296860" cy="581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650"/>
              <a:buFont typeface="Outfit ExtraBold"/>
              <a:buNone/>
            </a:pPr>
            <a:r>
              <a:rPr b="0" i="0" lang="en-US" sz="36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Definición e Impacto</a:t>
            </a:r>
            <a:endParaRPr b="0" i="0" sz="3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" name="Google Shape;3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1405334"/>
            <a:ext cx="6296860" cy="17092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974502" y="1616770"/>
            <a:ext cx="5772402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00"/>
              <a:buFont typeface="Outfit ExtraBold"/>
              <a:buNone/>
            </a:pPr>
            <a:r>
              <a:rPr b="0" i="0" lang="en-US" sz="18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974502" y="2017316"/>
            <a:ext cx="5772402" cy="88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Plataforma web que conecta usuarios con gimnasios cercanos y proporciona guías de ejercicio personalizadas según sus necesidades.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" name="Google Shape;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3297734"/>
            <a:ext cx="6296860" cy="141396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974502" y="3509169"/>
            <a:ext cx="5772402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00"/>
              <a:buFont typeface="Outfit ExtraBold"/>
              <a:buNone/>
            </a:pPr>
            <a:r>
              <a:rPr b="0" i="0" lang="en-US" sz="18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Relevancia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974502" y="3909715"/>
            <a:ext cx="577240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Resuelve la brecha entre usuarios que buscan entrenar y la dificultad de encontrar instalaciones adecuadas en su zona.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4894858"/>
            <a:ext cx="6296860" cy="1413966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974502" y="5106293"/>
            <a:ext cx="5772402" cy="290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00"/>
              <a:buFont typeface="Outfit ExtraBold"/>
              <a:buNone/>
            </a:pPr>
            <a:r>
              <a:rPr b="0" i="0" lang="en-US" sz="18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Viabilidad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974502" y="5506839"/>
            <a:ext cx="5772402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Implementable en un semestre utilizando tecnologías web estándar y datos de geolocalización accesibles públicamente.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661475" y="1406128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700"/>
              <a:buFont typeface="Outfit ExtraBold"/>
              <a:buNone/>
            </a:pPr>
            <a:r>
              <a:rPr b="0" i="0" lang="en-US" sz="37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Perfil de Egreso e Intereses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2374801"/>
            <a:ext cx="1524756" cy="152479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661475" y="4135834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Competencias Aplicadas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661475" y="4544516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full-stack, diseño UX/UI, integración de APIs de mapas y gestión de bases de datos relacionales.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3135" y="2374801"/>
            <a:ext cx="1524756" cy="152479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4363135" y="4135834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Conexión Profesional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4363135" y="4544516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Experiencia real en soluciones digitales para el sector wellness y tecnología aplicada a salud.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794" y="2374801"/>
            <a:ext cx="1524756" cy="152479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/>
          <p:nvPr/>
        </p:nvSpPr>
        <p:spPr>
          <a:xfrm>
            <a:off x="8064794" y="4135834"/>
            <a:ext cx="346542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Intereses del Equipo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8064794" y="4544516"/>
            <a:ext cx="3465426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Innovación en fitness, tecnología web moderna y emprendimiento digital orientado al usuario final.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661475" y="581025"/>
            <a:ext cx="10868745" cy="507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150"/>
              <a:buFont typeface="Outfit ExtraBold"/>
              <a:buNone/>
            </a:pPr>
            <a:r>
              <a:rPr b="0" i="0" lang="en-US" sz="31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Factibilidad y Riesgos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824335"/>
            <a:ext cx="6925990" cy="392618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7"/>
          <p:cNvSpPr/>
          <p:nvPr/>
        </p:nvSpPr>
        <p:spPr>
          <a:xfrm>
            <a:off x="7990084" y="1454944"/>
            <a:ext cx="3546485" cy="1461988"/>
          </a:xfrm>
          <a:prstGeom prst="roundRect">
            <a:avLst>
              <a:gd fmla="val 4667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8158851" y="1623715"/>
            <a:ext cx="320895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en-US" sz="15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Factibilidad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8158851" y="2023368"/>
            <a:ext cx="3208952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250"/>
              <a:buFont typeface="Arimo"/>
              <a:buNone/>
            </a:pPr>
            <a:r>
              <a:rPr b="0" i="0" lang="en-US" sz="12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Tiempo suficiente para desarrollar un MVP con funcionalidades core: búsqueda de gimnasios y guías básicas de ejercicio.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7990084" y="3056434"/>
            <a:ext cx="3546485" cy="1461988"/>
          </a:xfrm>
          <a:prstGeom prst="roundRect">
            <a:avLst>
              <a:gd fmla="val 4667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8158851" y="3225205"/>
            <a:ext cx="320895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r>
              <a:rPr b="0" i="0" lang="en-US" sz="15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Riesgos Identificados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8158851" y="3624858"/>
            <a:ext cx="3208952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250"/>
              <a:buFont typeface="Arimo"/>
              <a:buNone/>
            </a:pPr>
            <a:r>
              <a:rPr b="0" i="0" lang="en-US" sz="12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Disponibilidad de datos de gimnasios, integración de APIs externas y escalabilidad en la fase inicial del proyecto.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7990084" y="4657923"/>
            <a:ext cx="3546485" cy="1461988"/>
          </a:xfrm>
          <a:prstGeom prst="roundRect">
            <a:avLst>
              <a:gd fmla="val 4667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7"/>
          <p:cNvSpPr/>
          <p:nvPr/>
        </p:nvSpPr>
        <p:spPr>
          <a:xfrm>
            <a:off x="8158851" y="4826695"/>
            <a:ext cx="3208952" cy="260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🛡️</a:t>
            </a:r>
            <a:r>
              <a:rPr b="0" i="0" lang="en-US" sz="15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Mitigación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8158851" y="5226348"/>
            <a:ext cx="3208952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250"/>
              <a:buFont typeface="Arimo"/>
              <a:buNone/>
            </a:pPr>
            <a:r>
              <a:rPr b="0" i="0" lang="en-US" sz="12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Usar APIs públicas disponibles, comenzar con una zona geográfica limitada y adoptar arquitectura modular extensible.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/>
          <p:nvPr/>
        </p:nvSpPr>
        <p:spPr>
          <a:xfrm>
            <a:off x="661475" y="1120775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700"/>
              <a:buFont typeface="Outfit ExtraBold"/>
              <a:buNone/>
            </a:pPr>
            <a:r>
              <a:rPr b="0" i="0" lang="en-US" sz="37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Objetivos Generales y Específicos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944936" y="2302073"/>
            <a:ext cx="1058528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Crear una plataforma web funcional que facilite el acceso a información de gimnasios y guías de ejercicio para cualquier usuario.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661475" y="2089448"/>
            <a:ext cx="25399" cy="1030089"/>
          </a:xfrm>
          <a:prstGeom prst="roundRect">
            <a:avLst>
              <a:gd fmla="val 50001" name="adj"/>
            </a:avLst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3332163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1370177" y="3332163"/>
            <a:ext cx="460750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Geolocalización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1370177" y="3740845"/>
            <a:ext cx="460750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Implementar búsqueda de gimnasios basada en ubicación del usuario en tiempo real.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3915" y="3332163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8"/>
          <p:cNvSpPr/>
          <p:nvPr/>
        </p:nvSpPr>
        <p:spPr>
          <a:xfrm>
            <a:off x="6922617" y="3332163"/>
            <a:ext cx="46076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Base de Ejercicios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6922617" y="3740845"/>
            <a:ext cx="4607603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Construir un catálogo estructurado de ejercicios con instrucciones y nivel de dificultad.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5" name="Google Shape;8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475" y="472370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/>
          <p:nvPr/>
        </p:nvSpPr>
        <p:spPr>
          <a:xfrm>
            <a:off x="1370177" y="4723705"/>
            <a:ext cx="460750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Búsqueda Filtrada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370177" y="5132388"/>
            <a:ext cx="4607504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Sistema de filtros por distancia, tipo de gimnasio, horarios y especialidades disponibles.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915" y="4723705"/>
            <a:ext cx="472468" cy="4724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8"/>
          <p:cNvSpPr/>
          <p:nvPr/>
        </p:nvSpPr>
        <p:spPr>
          <a:xfrm>
            <a:off x="6922617" y="4723705"/>
            <a:ext cx="460760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Interfaz Intuitiva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922617" y="5132388"/>
            <a:ext cx="4607603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UX/UI centrado en el usuario, accesible desde cualquier dispositivo y navegador.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Metodología de Trabajo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939006"/>
            <a:ext cx="5319083" cy="531921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9"/>
          <p:cNvSpPr/>
          <p:nvPr/>
        </p:nvSpPr>
        <p:spPr>
          <a:xfrm>
            <a:off x="6217487" y="3446859"/>
            <a:ext cx="5319083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900"/>
              <a:buFont typeface="Outfit ExtraBold"/>
              <a:buNone/>
            </a:pPr>
            <a:r>
              <a:rPr b="0" i="0" lang="en-US" sz="9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Enfoque Ágil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6217487" y="3641725"/>
            <a:ext cx="5928668" cy="11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700"/>
              <a:buFont typeface="Arimo"/>
              <a:buNone/>
            </a:pPr>
            <a:r>
              <a:rPr b="0" i="0" lang="en-US" sz="7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en </a:t>
            </a:r>
            <a:r>
              <a:rPr b="1" i="0" lang="en-US" sz="7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sprints de 2 semanas</a:t>
            </a:r>
            <a:r>
              <a:rPr b="0" i="0" lang="en-US" sz="7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 con entregables incrementales y revisión continua del equipo.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775" y="6351687"/>
            <a:ext cx="5417506" cy="31472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/>
          <p:nvPr/>
        </p:nvSpPr>
        <p:spPr>
          <a:xfrm>
            <a:off x="781328" y="6364387"/>
            <a:ext cx="5284953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Outfit ExtraBold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Roles Definidos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781328" y="6540302"/>
            <a:ext cx="5284953" cy="11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700"/>
              <a:buFont typeface="Arimo"/>
              <a:buNone/>
            </a:pPr>
            <a:r>
              <a:rPr b="0" i="0" lang="en-US" sz="7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Frontend · Backend · DevOps · QA — cada miembro con responsabilidades claras y colaboración cruzada.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3" name="Google Shape;10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2615" y="6351687"/>
            <a:ext cx="5417605" cy="31472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9"/>
          <p:cNvSpPr/>
          <p:nvPr/>
        </p:nvSpPr>
        <p:spPr>
          <a:xfrm>
            <a:off x="6245168" y="6364387"/>
            <a:ext cx="5285052" cy="147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900"/>
              <a:buFont typeface="Outfit ExtraBold"/>
              <a:buNone/>
            </a:pPr>
            <a:r>
              <a:rPr b="0" i="0" lang="en-US" sz="9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Herramientas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6245168" y="6540302"/>
            <a:ext cx="5285052" cy="113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700"/>
              <a:buFont typeface="Arimo"/>
              <a:buNone/>
            </a:pPr>
            <a:r>
              <a:rPr b="0" i="0" lang="en-US" sz="7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Git para control de versiones, Jira para gestión de tareas y reuniones semanales de sincronización.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"/>
          <p:cNvSpPr/>
          <p:nvPr/>
        </p:nvSpPr>
        <p:spPr>
          <a:xfrm>
            <a:off x="661475" y="611584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700"/>
              <a:buFont typeface="Outfit ExtraBold"/>
              <a:buNone/>
            </a:pPr>
            <a:r>
              <a:rPr b="0" i="0" lang="en-US" sz="37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Plan de Trabajo e Hitos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6083148" y="1580257"/>
            <a:ext cx="25399" cy="4666059"/>
          </a:xfrm>
          <a:prstGeom prst="roundRect">
            <a:avLst>
              <a:gd fmla="val 50001" name="adj"/>
            </a:avLst>
          </a:prstGeom>
          <a:solidFill>
            <a:srgbClr val="BDB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5341605" y="1780183"/>
            <a:ext cx="567021" cy="25400"/>
          </a:xfrm>
          <a:prstGeom prst="roundRect">
            <a:avLst>
              <a:gd fmla="val 49999" name="adj"/>
            </a:avLst>
          </a:prstGeom>
          <a:solidFill>
            <a:srgbClr val="BDB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/>
          <p:nvPr/>
        </p:nvSpPr>
        <p:spPr>
          <a:xfrm>
            <a:off x="5883227" y="1580257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5954117" y="1615678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0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661475" y="1645146"/>
            <a:ext cx="44893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Semanas 1–2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661475" y="2053828"/>
            <a:ext cx="448933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Diseño de arquitectura, setup del entorno de desarrollo y prototipo inicial de UI.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6283069" y="2914253"/>
            <a:ext cx="567021" cy="25400"/>
          </a:xfrm>
          <a:prstGeom prst="roundRect">
            <a:avLst>
              <a:gd fmla="val 49999" name="adj"/>
            </a:avLst>
          </a:prstGeom>
          <a:solidFill>
            <a:srgbClr val="BDB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0"/>
          <p:cNvSpPr/>
          <p:nvPr/>
        </p:nvSpPr>
        <p:spPr>
          <a:xfrm>
            <a:off x="5883227" y="2714327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0"/>
          <p:cNvSpPr/>
          <p:nvPr/>
        </p:nvSpPr>
        <p:spPr>
          <a:xfrm>
            <a:off x="5954117" y="2749748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0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7040882" y="2779216"/>
            <a:ext cx="44893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Semanas 3–6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7040882" y="3187898"/>
            <a:ext cx="448933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Desarrollo backend, integración de APIs de mapas y construcción de la base de datos de ejercicios.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5341605" y="3891756"/>
            <a:ext cx="567021" cy="25400"/>
          </a:xfrm>
          <a:prstGeom prst="roundRect">
            <a:avLst>
              <a:gd fmla="val 49999" name="adj"/>
            </a:avLst>
          </a:prstGeom>
          <a:solidFill>
            <a:srgbClr val="BDB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5883227" y="3691830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0"/>
          <p:cNvSpPr/>
          <p:nvPr/>
        </p:nvSpPr>
        <p:spPr>
          <a:xfrm>
            <a:off x="5954117" y="3727252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0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661475" y="3756720"/>
            <a:ext cx="44893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Semanas 7–8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0"/>
          <p:cNvSpPr/>
          <p:nvPr/>
        </p:nvSpPr>
        <p:spPr>
          <a:xfrm>
            <a:off x="661475" y="4165402"/>
            <a:ext cx="448933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Testing exhaustivo, optimización de rendimiento y deployment en servidor de producción.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6283069" y="4869259"/>
            <a:ext cx="567021" cy="25400"/>
          </a:xfrm>
          <a:prstGeom prst="roundRect">
            <a:avLst>
              <a:gd fmla="val 49999" name="adj"/>
            </a:avLst>
          </a:prstGeom>
          <a:solidFill>
            <a:srgbClr val="BDB8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"/>
          <p:cNvSpPr/>
          <p:nvPr/>
        </p:nvSpPr>
        <p:spPr>
          <a:xfrm>
            <a:off x="5883227" y="4669334"/>
            <a:ext cx="425241" cy="425252"/>
          </a:xfrm>
          <a:prstGeom prst="roundRect">
            <a:avLst>
              <a:gd fmla="val 18669" name="adj"/>
            </a:avLst>
          </a:prstGeom>
          <a:solidFill>
            <a:srgbClr val="E9E6FA"/>
          </a:solidFill>
          <a:ln cap="flat" cmpd="sng" w="9525">
            <a:solidFill>
              <a:srgbClr val="BDB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"/>
          <p:cNvSpPr/>
          <p:nvPr/>
        </p:nvSpPr>
        <p:spPr>
          <a:xfrm>
            <a:off x="5954117" y="4704755"/>
            <a:ext cx="283461" cy="3544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2200"/>
              <a:buFont typeface="Outfit ExtraBold"/>
              <a:buNone/>
            </a:pPr>
            <a:r>
              <a:rPr b="0" i="0" lang="en-US" sz="220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7040882" y="4734223"/>
            <a:ext cx="448933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850"/>
              <a:buFont typeface="Outfit ExtraBold"/>
              <a:buNone/>
            </a:pPr>
            <a:r>
              <a:rPr b="0" i="0" lang="en-US" sz="18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Semana 9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7040882" y="5142905"/>
            <a:ext cx="448933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Arimo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Documentación técnica completa y presentación final del proyecto ante evaluadores.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/>
          <p:nvPr/>
        </p:nvSpPr>
        <p:spPr>
          <a:xfrm>
            <a:off x="661475" y="526951"/>
            <a:ext cx="10868745" cy="516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3250"/>
              <a:buFont typeface="Outfit ExtraBold"/>
              <a:buNone/>
            </a:pPr>
            <a:r>
              <a:rPr b="0" i="0" lang="en-US" sz="325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Evidencias del Proyecto</a:t>
            </a:r>
            <a:endParaRPr b="0" i="0" sz="3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833463"/>
            <a:ext cx="6923410" cy="392479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1"/>
          <p:cNvSpPr/>
          <p:nvPr/>
        </p:nvSpPr>
        <p:spPr>
          <a:xfrm>
            <a:off x="7994648" y="1405334"/>
            <a:ext cx="3541822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600"/>
              <a:buFont typeface="Outfit ExtraBold"/>
              <a:buNone/>
            </a:pPr>
            <a:r>
              <a:rPr b="0" i="0" lang="en-US" sz="16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Entregables Técnicos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7994648" y="1808460"/>
            <a:ext cx="3541822" cy="15894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00"/>
              <a:buFont typeface="Arimo"/>
              <a:buChar char="•"/>
            </a:pPr>
            <a:r>
              <a:rPr b="0" i="0" lang="en-US" sz="13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Código fuente completo en repositorio Git con historial de commits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00"/>
              <a:buFont typeface="Arimo"/>
              <a:buChar char="•"/>
            </a:pPr>
            <a:r>
              <a:rPr b="0" i="0" lang="en-US" sz="13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Documentación de APIs y arquitectura del sistema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00"/>
              <a:buFont typeface="Arimo"/>
              <a:buChar char="•"/>
            </a:pPr>
            <a:r>
              <a:rPr b="0" i="0" lang="en-US" sz="13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Manual de usuario con capturas de pantalla y flujos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7994648" y="3542605"/>
            <a:ext cx="3541822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600"/>
              <a:buFont typeface="Outfit ExtraBold"/>
              <a:buNone/>
            </a:pPr>
            <a:r>
              <a:rPr b="0" i="0" lang="en-US" sz="16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Demostración Funcional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7994648" y="3945731"/>
            <a:ext cx="3541822" cy="10427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00"/>
              <a:buFont typeface="Arimo"/>
              <a:buChar char="•"/>
            </a:pPr>
            <a:r>
              <a:rPr b="0" i="0" lang="en-US" sz="13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Búsqueda de gimnasios por ubicación con visualización en mapa interactivo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00"/>
              <a:buFont typeface="Arimo"/>
              <a:buChar char="•"/>
            </a:pPr>
            <a:r>
              <a:rPr b="0" i="0" lang="en-US" sz="13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Guías de ejercicio interactivas accesibles desde la plataforma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7994648" y="5133181"/>
            <a:ext cx="3541822" cy="25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1600"/>
              <a:buFont typeface="Outfit ExtraBold"/>
              <a:buNone/>
            </a:pPr>
            <a:r>
              <a:rPr b="0" i="0" lang="en-US" sz="16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Métricas de Éxito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7994648" y="5536307"/>
            <a:ext cx="3541822" cy="7441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150">
            <a:noAutofit/>
          </a:bodyPr>
          <a:lstStyle/>
          <a:p>
            <a:pPr indent="-264160" lvl="0" marL="26416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300"/>
              <a:buFont typeface="Arimo"/>
              <a:buChar char="•"/>
            </a:pPr>
            <a:r>
              <a:rPr b="0" i="0" lang="en-US" sz="130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Tiempo de respuesta, cobertura de gimnasios y satisfacción en testing con usuarios reales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1" name="Google Shape;1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57188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2"/>
          <p:cNvSpPr/>
          <p:nvPr/>
        </p:nvSpPr>
        <p:spPr>
          <a:xfrm>
            <a:off x="5233360" y="588665"/>
            <a:ext cx="6296860" cy="461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31971"/>
              </a:buClr>
              <a:buSzPts val="2900"/>
              <a:buFont typeface="Outfit ExtraBold"/>
              <a:buNone/>
            </a:pPr>
            <a:r>
              <a:rPr b="0" i="0" lang="en-US" sz="2900" u="none" cap="none" strike="noStrike">
                <a:solidFill>
                  <a:srgbClr val="23197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Próximos Pasos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5233360" y="1223169"/>
            <a:ext cx="295268" cy="184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Outfit Light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Outfit Light"/>
                <a:ea typeface="Outfit Light"/>
                <a:cs typeface="Outfit Light"/>
                <a:sym typeface="Outfit Light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5233360" y="1455043"/>
            <a:ext cx="6296860" cy="19050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5233360" y="1566962"/>
            <a:ext cx="6296860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Outfit ExtraBold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Validar Datos y APIs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5233360" y="1866801"/>
            <a:ext cx="6296860" cy="4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Arimo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Confirmar disponibilidad de fuentes de datos de gimnasios y APIs de terceros (mapas, geolocalización).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5233360" y="2513509"/>
            <a:ext cx="295268" cy="184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Outfit Light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Outfit Light"/>
                <a:ea typeface="Outfit Light"/>
                <a:cs typeface="Outfit Light"/>
                <a:sym typeface="Outfit Light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5233360" y="2745383"/>
            <a:ext cx="6296860" cy="19050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/>
          <p:nvPr/>
        </p:nvSpPr>
        <p:spPr>
          <a:xfrm>
            <a:off x="5233360" y="2857302"/>
            <a:ext cx="6296860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Outfit ExtraBold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Definir Stack Tecnológico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5233360" y="3157141"/>
            <a:ext cx="6296860" cy="4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Arimo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Acordar con el equipo las tecnologías finales: framework frontend, backend, base de datos y hosting.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2"/>
          <p:cNvSpPr/>
          <p:nvPr/>
        </p:nvSpPr>
        <p:spPr>
          <a:xfrm>
            <a:off x="5233360" y="3803848"/>
            <a:ext cx="295268" cy="184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Outfit Light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Outfit Light"/>
                <a:ea typeface="Outfit Light"/>
                <a:cs typeface="Outfit Light"/>
                <a:sym typeface="Outfit Light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5233360" y="4035723"/>
            <a:ext cx="6296860" cy="19050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"/>
          <p:cNvSpPr/>
          <p:nvPr/>
        </p:nvSpPr>
        <p:spPr>
          <a:xfrm>
            <a:off x="5233360" y="4147641"/>
            <a:ext cx="6296860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Outfit ExtraBold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Crear Roadmap Detallado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5233360" y="4447480"/>
            <a:ext cx="6296860" cy="4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Arimo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Elaborar el backlog completo con sprints, tareas asignadas y criterios de aceptación por entregable.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2"/>
          <p:cNvSpPr/>
          <p:nvPr/>
        </p:nvSpPr>
        <p:spPr>
          <a:xfrm>
            <a:off x="5233360" y="5094188"/>
            <a:ext cx="295268" cy="1845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Outfit Light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Outfit Light"/>
                <a:ea typeface="Outfit Light"/>
                <a:cs typeface="Outfit Light"/>
                <a:sym typeface="Outfit Light"/>
              </a:rPr>
              <a:t>04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5233360" y="5326063"/>
            <a:ext cx="6296860" cy="19050"/>
          </a:xfrm>
          <a:prstGeom prst="rect">
            <a:avLst/>
          </a:prstGeom>
          <a:solidFill>
            <a:srgbClr val="5E4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2"/>
          <p:cNvSpPr/>
          <p:nvPr/>
        </p:nvSpPr>
        <p:spPr>
          <a:xfrm>
            <a:off x="5233360" y="5437981"/>
            <a:ext cx="6296860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450"/>
              <a:buFont typeface="Outfit ExtraBold"/>
              <a:buNone/>
            </a:pPr>
            <a:r>
              <a:rPr b="0" i="0" lang="en-US" sz="1450" u="none" cap="none" strike="noStrike">
                <a:solidFill>
                  <a:srgbClr val="2A2742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Iniciar Desarrollo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5233360" y="5737820"/>
            <a:ext cx="6296860" cy="4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A2742"/>
              </a:buClr>
              <a:buSzPts val="1150"/>
              <a:buFont typeface="Arimo"/>
              <a:buNone/>
            </a:pPr>
            <a:r>
              <a:rPr b="0" i="0" lang="en-US" sz="1150" u="none" cap="none" strike="noStrike">
                <a:solidFill>
                  <a:srgbClr val="2A2742"/>
                </a:solidFill>
                <a:latin typeface="Arimo"/>
                <a:ea typeface="Arimo"/>
                <a:cs typeface="Arimo"/>
                <a:sym typeface="Arimo"/>
              </a:rPr>
              <a:t>Arrancar la primera semana con la configuración del entorno y el primer prototipo navegable de UI.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