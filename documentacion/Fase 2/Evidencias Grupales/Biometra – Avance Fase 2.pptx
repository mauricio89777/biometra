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4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226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20520"/>
            <a:ext cx="10566400" cy="442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226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226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20520"/>
            <a:ext cx="10566400" cy="442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226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78130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E879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AVANCE FASE 2 · CAPSTONE PTY4614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3421380"/>
            <a:ext cx="10883392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000"/>
              </a:lnSpc>
              <a:buNone/>
            </a:pPr>
            <a:r>
              <a:rPr lang="en-US" sz="8000" b="1" i="0" dirty="0">
                <a:solidFill>
                  <a:srgbClr val="F4F5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Biometra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812800" y="4792980"/>
            <a:ext cx="10883392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C9D1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Plataforma web de análisis biomecánico con Inteligencia Artificial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5511800"/>
            <a:ext cx="1088339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1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Felipe Villanueva · José Vásquez · Mauricio Domihual</a:t>
            </a:r>
            <a:endParaRPr lang="en-US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1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Docente: Karla Marilyn Roco Ramírez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226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Objetivo y funcionamiento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20520"/>
            <a:ext cx="10883392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1226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Analizar la postura y el movimiento a partir de un video, sin sensores ni cámaras costosas, y entregar métricas y recomendaciones técnicas.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12800" y="2611120"/>
            <a:ext cx="2011680" cy="1431290"/>
          </a:xfrm>
          <a:prstGeom prst="roundRect">
            <a:avLst>
              <a:gd name="adj" fmla="val 7098"/>
            </a:avLst>
          </a:prstGeom>
          <a:solidFill>
            <a:srgbClr val="12263A"/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2788920"/>
            <a:ext cx="17068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E879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90600" y="3220720"/>
            <a:ext cx="1706880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F4F5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Registro e inicio de sesión seguro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51480" y="2611120"/>
            <a:ext cx="2011680" cy="1431290"/>
          </a:xfrm>
          <a:prstGeom prst="roundRect">
            <a:avLst>
              <a:gd name="adj" fmla="val 7098"/>
            </a:avLst>
          </a:prstGeom>
          <a:solidFill>
            <a:srgbClr val="12263A"/>
          </a:solidFill>
          <a:ln/>
        </p:spPr>
      </p:sp>
      <p:sp>
        <p:nvSpPr>
          <p:cNvPr id="8" name="Text 6"/>
          <p:cNvSpPr/>
          <p:nvPr/>
        </p:nvSpPr>
        <p:spPr>
          <a:xfrm>
            <a:off x="3129280" y="2788920"/>
            <a:ext cx="17068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E879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129280" y="3220720"/>
            <a:ext cx="1706880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F4F5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Selección del ejercicio y carga del video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90160" y="2611120"/>
            <a:ext cx="2011680" cy="1431290"/>
          </a:xfrm>
          <a:prstGeom prst="roundRect">
            <a:avLst>
              <a:gd name="adj" fmla="val 7098"/>
            </a:avLst>
          </a:prstGeom>
          <a:solidFill>
            <a:srgbClr val="12263A"/>
          </a:solidFill>
          <a:ln/>
        </p:spPr>
      </p:sp>
      <p:sp>
        <p:nvSpPr>
          <p:cNvPr id="11" name="Text 9"/>
          <p:cNvSpPr/>
          <p:nvPr/>
        </p:nvSpPr>
        <p:spPr>
          <a:xfrm>
            <a:off x="5267960" y="2788920"/>
            <a:ext cx="17068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E879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267960" y="3220720"/>
            <a:ext cx="1706880" cy="66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F4F5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Detección del movimiento con visión por computador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228840" y="2611120"/>
            <a:ext cx="2011680" cy="1431290"/>
          </a:xfrm>
          <a:prstGeom prst="roundRect">
            <a:avLst>
              <a:gd name="adj" fmla="val 7098"/>
            </a:avLst>
          </a:prstGeom>
          <a:solidFill>
            <a:srgbClr val="12263A"/>
          </a:solidFill>
          <a:ln/>
        </p:spPr>
      </p:sp>
      <p:sp>
        <p:nvSpPr>
          <p:cNvPr id="14" name="Text 12"/>
          <p:cNvSpPr/>
          <p:nvPr/>
        </p:nvSpPr>
        <p:spPr>
          <a:xfrm>
            <a:off x="7406640" y="2788920"/>
            <a:ext cx="17068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E879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406640" y="3220720"/>
            <a:ext cx="1706880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F4F5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Métricas, evaluación y recomendaciones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367520" y="2611120"/>
            <a:ext cx="2011680" cy="1431290"/>
          </a:xfrm>
          <a:prstGeom prst="roundRect">
            <a:avLst>
              <a:gd name="adj" fmla="val 7098"/>
            </a:avLst>
          </a:prstGeom>
          <a:solidFill>
            <a:srgbClr val="12263A"/>
          </a:solidFill>
          <a:ln/>
        </p:spPr>
      </p:sp>
      <p:sp>
        <p:nvSpPr>
          <p:cNvPr id="17" name="Text 15"/>
          <p:cNvSpPr/>
          <p:nvPr/>
        </p:nvSpPr>
        <p:spPr>
          <a:xfrm>
            <a:off x="9545320" y="2788920"/>
            <a:ext cx="17068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E879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545320" y="3220720"/>
            <a:ext cx="1706880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F4F5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Historial y búsqueda de gimnasios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226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Arquitectura y tecnologías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620520"/>
            <a:ext cx="2546350" cy="1201420"/>
          </a:xfrm>
          <a:prstGeom prst="roundRect">
            <a:avLst>
              <a:gd name="adj" fmla="val 8457"/>
            </a:avLst>
          </a:prstGeom>
          <a:solidFill>
            <a:srgbClr val="12263A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1823720"/>
            <a:ext cx="2204149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4F5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Frontend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16000" y="2189480"/>
            <a:ext cx="2204149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F4F5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React, HTML5, CSS3 y JavaScript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86150" y="1620520"/>
            <a:ext cx="2546350" cy="1201420"/>
          </a:xfrm>
          <a:prstGeom prst="roundRect">
            <a:avLst>
              <a:gd name="adj" fmla="val 8457"/>
            </a:avLst>
          </a:prstGeom>
          <a:solidFill>
            <a:srgbClr val="12263A"/>
          </a:solidFill>
          <a:ln/>
        </p:spPr>
      </p:sp>
      <p:sp>
        <p:nvSpPr>
          <p:cNvPr id="7" name="Text 5"/>
          <p:cNvSpPr/>
          <p:nvPr/>
        </p:nvSpPr>
        <p:spPr>
          <a:xfrm>
            <a:off x="3689350" y="1823720"/>
            <a:ext cx="2204149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4F5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Backend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689350" y="2189480"/>
            <a:ext cx="2204149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F4F5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Node.js, Express, JWT y Prisma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59500" y="1620520"/>
            <a:ext cx="2546350" cy="1201420"/>
          </a:xfrm>
          <a:prstGeom prst="roundRect">
            <a:avLst>
              <a:gd name="adj" fmla="val 8457"/>
            </a:avLst>
          </a:prstGeom>
          <a:solidFill>
            <a:srgbClr val="E8793A"/>
          </a:solidFill>
          <a:ln/>
        </p:spPr>
      </p:sp>
      <p:sp>
        <p:nvSpPr>
          <p:cNvPr id="10" name="Text 8"/>
          <p:cNvSpPr/>
          <p:nvPr/>
        </p:nvSpPr>
        <p:spPr>
          <a:xfrm>
            <a:off x="6362700" y="1823720"/>
            <a:ext cx="2204149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Motor de IA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362700" y="2189480"/>
            <a:ext cx="2204149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Python, OpenCV y MediaPipe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832850" y="1620520"/>
            <a:ext cx="2546350" cy="1201420"/>
          </a:xfrm>
          <a:prstGeom prst="roundRect">
            <a:avLst>
              <a:gd name="adj" fmla="val 8457"/>
            </a:avLst>
          </a:prstGeom>
          <a:solidFill>
            <a:srgbClr val="12263A"/>
          </a:solidFill>
          <a:ln/>
        </p:spPr>
      </p:sp>
      <p:sp>
        <p:nvSpPr>
          <p:cNvPr id="13" name="Text 11"/>
          <p:cNvSpPr/>
          <p:nvPr/>
        </p:nvSpPr>
        <p:spPr>
          <a:xfrm>
            <a:off x="9036050" y="1823720"/>
            <a:ext cx="2204149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4F5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Base de datos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036050" y="2189480"/>
            <a:ext cx="22041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F4F5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MySQL con 7 entidades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2800" y="3126741"/>
            <a:ext cx="1088339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B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 backend ejecuta el motor de IA con el controlador analizar() mediante una petición POST. Todo se empaqueta en Docker; Git/GitHub para el código y Trello para el seguimiento.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226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Modelo de datos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71320"/>
            <a:ext cx="5207000" cy="657860"/>
          </a:xfrm>
          <a:prstGeom prst="roundRect">
            <a:avLst>
              <a:gd name="adj" fmla="val 15444"/>
            </a:avLst>
          </a:prstGeom>
          <a:solidFill>
            <a:srgbClr val="12263A"/>
          </a:solidFill>
          <a:ln/>
        </p:spPr>
        <p:txBody>
          <a:bodyPr wrap="square" lIns="75271" tIns="148042" rIns="75271" bIns="122642" rtlCol="0" anchor="t">
            <a:normAutofit/>
          </a:bodyPr>
          <a:lstStyle/>
          <a:p>
            <a:pPr algn="ctr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4F5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Usuario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172200" y="1671320"/>
            <a:ext cx="5207000" cy="657860"/>
          </a:xfrm>
          <a:prstGeom prst="roundRect">
            <a:avLst>
              <a:gd name="adj" fmla="val 15444"/>
            </a:avLst>
          </a:prstGeom>
          <a:solidFill>
            <a:srgbClr val="12263A"/>
          </a:solidFill>
          <a:ln/>
        </p:spPr>
        <p:txBody>
          <a:bodyPr wrap="square" lIns="75271" tIns="148042" rIns="75271" bIns="122642" rtlCol="0" anchor="t">
            <a:normAutofit/>
          </a:bodyPr>
          <a:lstStyle/>
          <a:p>
            <a:pPr algn="ctr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4F5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Ejercicio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2684780"/>
            <a:ext cx="2527300" cy="657860"/>
          </a:xfrm>
          <a:prstGeom prst="roundRect">
            <a:avLst>
              <a:gd name="adj" fmla="val 15444"/>
            </a:avLst>
          </a:prstGeom>
          <a:solidFill>
            <a:srgbClr val="E8793A"/>
          </a:solidFill>
          <a:ln/>
        </p:spPr>
        <p:txBody>
          <a:bodyPr wrap="square" lIns="115467" tIns="148042" rIns="115467" bIns="122642" rtlCol="0" anchor="t">
            <a:normAutofit/>
          </a:bodyPr>
          <a:lstStyle/>
          <a:p>
            <a:pPr algn="ctr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Video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492500" y="2684780"/>
            <a:ext cx="2527300" cy="657860"/>
          </a:xfrm>
          <a:prstGeom prst="roundRect">
            <a:avLst>
              <a:gd name="adj" fmla="val 15444"/>
            </a:avLst>
          </a:prstGeom>
          <a:solidFill>
            <a:srgbClr val="E8793A"/>
          </a:solidFill>
          <a:ln/>
        </p:spPr>
        <p:txBody>
          <a:bodyPr wrap="square" lIns="115467" tIns="148042" rIns="115467" bIns="122642" rtlCol="0" anchor="t">
            <a:normAutofit/>
          </a:bodyPr>
          <a:lstStyle/>
          <a:p>
            <a:pPr algn="ctr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Análisis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172200" y="2684780"/>
            <a:ext cx="2527300" cy="657860"/>
          </a:xfrm>
          <a:prstGeom prst="roundRect">
            <a:avLst>
              <a:gd name="adj" fmla="val 15444"/>
            </a:avLst>
          </a:prstGeom>
          <a:solidFill>
            <a:srgbClr val="12263A"/>
          </a:solidFill>
          <a:ln/>
        </p:spPr>
        <p:txBody>
          <a:bodyPr wrap="square" lIns="115467" tIns="148042" rIns="115467" bIns="122642" rtlCol="0" anchor="t">
            <a:normAutofit/>
          </a:bodyPr>
          <a:lstStyle/>
          <a:p>
            <a:pPr algn="ctr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4F5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Métrica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851900" y="2684780"/>
            <a:ext cx="2527300" cy="657860"/>
          </a:xfrm>
          <a:prstGeom prst="roundRect">
            <a:avLst>
              <a:gd name="adj" fmla="val 15444"/>
            </a:avLst>
          </a:prstGeom>
          <a:solidFill>
            <a:srgbClr val="12263A"/>
          </a:solidFill>
          <a:ln/>
        </p:spPr>
        <p:txBody>
          <a:bodyPr wrap="square" lIns="115467" tIns="148042" rIns="115467" bIns="122642" rtlCol="0" anchor="t">
            <a:normAutofit/>
          </a:bodyPr>
          <a:lstStyle/>
          <a:p>
            <a:pPr algn="ctr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4F5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Feedback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12800" y="3698241"/>
            <a:ext cx="1088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5B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 usuario sube videos de un ejercicio; cada video genera un análisis con sus métricas y feedback. Gimnasio es una entidad independiente. Diseñado en Data Modeler e implementado en MySQL con Prisma.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226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Alcance y límites del análisis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23696"/>
            <a:ext cx="3380264" cy="1623695"/>
          </a:xfrm>
          <a:prstGeom prst="roundRect">
            <a:avLst>
              <a:gd name="adj" fmla="val 6062"/>
            </a:avLst>
          </a:prstGeom>
          <a:solidFill>
            <a:srgbClr val="FFFFFF"/>
          </a:solidFill>
          <a:ln w="6350">
            <a:solidFill>
              <a:srgbClr val="DFE2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6480" y="1854200"/>
            <a:ext cx="3006831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E879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Qué se estima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46480" y="2245361"/>
            <a:ext cx="3006831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226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Landmarks, ángulos articulares, rango de movimiento, fases, repeticiones y estabilidad.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05789" y="1623696"/>
            <a:ext cx="3380343" cy="1623695"/>
          </a:xfrm>
          <a:prstGeom prst="roundRect">
            <a:avLst>
              <a:gd name="adj" fmla="val 6062"/>
            </a:avLst>
          </a:prstGeom>
          <a:solidFill>
            <a:srgbClr val="FFFFFF"/>
          </a:solidFill>
          <a:ln w="6350">
            <a:solidFill>
              <a:srgbClr val="DFE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36294" y="1854200"/>
            <a:ext cx="3006913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E879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 qué depende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636294" y="2245361"/>
            <a:ext cx="3006913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226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Iluminación, perspectiva, oclusiones, calidad del video y visibilidad de las articulaciones.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95682" y="1623696"/>
            <a:ext cx="3380343" cy="1623695"/>
          </a:xfrm>
          <a:prstGeom prst="roundRect">
            <a:avLst>
              <a:gd name="adj" fmla="val 6062"/>
            </a:avLst>
          </a:prstGeom>
          <a:solidFill>
            <a:srgbClr val="FFFFFF"/>
          </a:solidFill>
          <a:ln w="6350">
            <a:solidFill>
              <a:srgbClr val="DFE2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6187" y="1854200"/>
            <a:ext cx="3006913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E879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Qué no se afirma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226187" y="2245361"/>
            <a:ext cx="3006913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226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Fuerza muscular, riesgo de lesión ni profundidad 3D. No reemplaza una evaluación médica.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4F5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Aporte de cada integrante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74496"/>
            <a:ext cx="3380264" cy="1946910"/>
          </a:xfrm>
          <a:prstGeom prst="roundRect">
            <a:avLst>
              <a:gd name="adj" fmla="val 5055"/>
            </a:avLst>
          </a:prstGeom>
          <a:solidFill>
            <a:srgbClr val="12263A"/>
          </a:solidFill>
          <a:ln w="6350">
            <a:solidFill>
              <a:srgbClr val="2C425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880" y="1930400"/>
            <a:ext cx="295450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E879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Felipe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71880" y="2336800"/>
            <a:ext cx="2954507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4F5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Backend, autenticación y base de datos: modelo ER, API REST de 8 recursos, JWT, pruebas.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05789" y="1674496"/>
            <a:ext cx="3380343" cy="1946910"/>
          </a:xfrm>
          <a:prstGeom prst="roundRect">
            <a:avLst>
              <a:gd name="adj" fmla="val 5055"/>
            </a:avLst>
          </a:prstGeom>
          <a:solidFill>
            <a:srgbClr val="12263A"/>
          </a:solidFill>
          <a:ln w="6350">
            <a:solidFill>
              <a:srgbClr val="2C42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1694" y="1930400"/>
            <a:ext cx="295458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E879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José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661694" y="2336800"/>
            <a:ext cx="2954589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4F5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Frontend en React: catálogo muscular SVG, buscador de gimnasios, carga de video, dashboards.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95682" y="1674496"/>
            <a:ext cx="3380343" cy="1946910"/>
          </a:xfrm>
          <a:prstGeom prst="roundRect">
            <a:avLst>
              <a:gd name="adj" fmla="val 5055"/>
            </a:avLst>
          </a:prstGeom>
          <a:solidFill>
            <a:srgbClr val="12263A"/>
          </a:solidFill>
          <a:ln w="6350">
            <a:solidFill>
              <a:srgbClr val="2C42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1587" y="1930400"/>
            <a:ext cx="295458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E879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Mauricio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51587" y="2336800"/>
            <a:ext cx="2954589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4F5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Motor de IA en Python, conexión con el backend y empaquetado Docker.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226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Evidencias y pruebas de la API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572896"/>
            <a:ext cx="3414157" cy="892810"/>
          </a:xfrm>
          <a:prstGeom prst="roundRect">
            <a:avLst>
              <a:gd name="adj" fmla="val 11024"/>
            </a:avLst>
          </a:prstGeom>
          <a:solidFill>
            <a:srgbClr val="FFFFFF"/>
          </a:solidFill>
          <a:ln w="6350">
            <a:solidFill>
              <a:srgbClr val="DFE2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6480" y="1752600"/>
            <a:ext cx="35604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E879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495584" y="1908175"/>
            <a:ext cx="199263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entidades en MySQL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88882" y="1572896"/>
            <a:ext cx="3414236" cy="892810"/>
          </a:xfrm>
          <a:prstGeom prst="roundRect">
            <a:avLst>
              <a:gd name="adj" fmla="val 11024"/>
            </a:avLst>
          </a:prstGeom>
          <a:solidFill>
            <a:srgbClr val="FFFFFF"/>
          </a:solidFill>
          <a:ln w="6350">
            <a:solidFill>
              <a:srgbClr val="DFE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19387" y="1752600"/>
            <a:ext cx="88982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E879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8/8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513308" y="1908175"/>
            <a:ext cx="113861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pruebas OK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61868" y="1572896"/>
            <a:ext cx="3414157" cy="892810"/>
          </a:xfrm>
          <a:prstGeom prst="roundRect">
            <a:avLst>
              <a:gd name="adj" fmla="val 11024"/>
            </a:avLst>
          </a:prstGeom>
          <a:solidFill>
            <a:srgbClr val="FFFFFF"/>
          </a:solidFill>
          <a:ln w="6350">
            <a:solidFill>
              <a:srgbClr val="DFE2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92374" y="1752600"/>
            <a:ext cx="71199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E879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33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8938102" y="1908175"/>
            <a:ext cx="16963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puntos del cuerpo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5975" y="2726057"/>
            <a:ext cx="3414157" cy="1332230"/>
          </a:xfrm>
          <a:prstGeom prst="roundRect">
            <a:avLst>
              <a:gd name="adj" fmla="val 7388"/>
            </a:avLst>
          </a:prstGeom>
          <a:solidFill>
            <a:srgbClr val="FFFFFF"/>
          </a:solidFill>
          <a:ln w="6350">
            <a:solidFill>
              <a:srgbClr val="DFE2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6480" y="2956561"/>
            <a:ext cx="3041741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E879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Autenticación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046480" y="3347721"/>
            <a:ext cx="3041741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JWT y control de dueño: solo el dueño edita sus datos.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88882" y="2726057"/>
            <a:ext cx="3414236" cy="1332230"/>
          </a:xfrm>
          <a:prstGeom prst="roundRect">
            <a:avLst>
              <a:gd name="adj" fmla="val 7388"/>
            </a:avLst>
          </a:prstGeom>
          <a:solidFill>
            <a:srgbClr val="FFFFFF"/>
          </a:solidFill>
          <a:ln w="6350">
            <a:solidFill>
              <a:srgbClr val="DFE2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9387" y="2956561"/>
            <a:ext cx="3041823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E879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CRUD completo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619387" y="3347721"/>
            <a:ext cx="3041823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Usuarios, videos, análisis, métricas y feedbacks con 200 y 201.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961868" y="2726057"/>
            <a:ext cx="3414157" cy="1332230"/>
          </a:xfrm>
          <a:prstGeom prst="roundRect">
            <a:avLst>
              <a:gd name="adj" fmla="val 7388"/>
            </a:avLst>
          </a:prstGeom>
          <a:solidFill>
            <a:srgbClr val="FFFFFF"/>
          </a:solidFill>
          <a:ln w="6350">
            <a:solidFill>
              <a:srgbClr val="DFE2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92374" y="2956561"/>
            <a:ext cx="3041741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E879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Errores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192374" y="3347721"/>
            <a:ext cx="3041741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Una llave foránea inexistente devuelve 400 con mensaje claro.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226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Dificultades y soluciones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74496"/>
            <a:ext cx="3380264" cy="1946910"/>
          </a:xfrm>
          <a:prstGeom prst="roundRect">
            <a:avLst>
              <a:gd name="adj" fmla="val 5055"/>
            </a:avLst>
          </a:prstGeom>
          <a:solidFill>
            <a:srgbClr val="FFFFFF"/>
          </a:solidFill>
          <a:ln w="6350">
            <a:solidFill>
              <a:srgbClr val="DFE2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880" y="1930400"/>
            <a:ext cx="295450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E879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Prisma y MySQL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71880" y="2336800"/>
            <a:ext cx="2954507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226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Prisma muy nuevo y servicio de MySQL mal instalado en Windows. Se fijó Prisma 5 y se reinstaló MySQL.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05789" y="1674496"/>
            <a:ext cx="3380343" cy="1946910"/>
          </a:xfrm>
          <a:prstGeom prst="roundRect">
            <a:avLst>
              <a:gd name="adj" fmla="val 5055"/>
            </a:avLst>
          </a:prstGeom>
          <a:solidFill>
            <a:srgbClr val="FFFFFF"/>
          </a:solidFill>
          <a:ln w="6350">
            <a:solidFill>
              <a:srgbClr val="DFE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1694" y="1930400"/>
            <a:ext cx="295458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E879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Integración con IA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661694" y="2336800"/>
            <a:ext cx="2954589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226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Conectar el video del frontend con el procesamiento en Python. Se resolvió con el controlador analizar() y las APIs REST.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95682" y="1674496"/>
            <a:ext cx="3380343" cy="1946910"/>
          </a:xfrm>
          <a:prstGeom prst="roundRect">
            <a:avLst>
              <a:gd name="adj" fmla="val 5055"/>
            </a:avLst>
          </a:prstGeom>
          <a:solidFill>
            <a:srgbClr val="FFFFFF"/>
          </a:solidFill>
          <a:ln w="6350">
            <a:solidFill>
              <a:srgbClr val="DFE2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1587" y="1930400"/>
            <a:ext cx="295458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E879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Trabajo en equipo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51587" y="2336800"/>
            <a:ext cx="2954589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226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Scrum con entregas cada dos semanas y roles según la especialidad de cada integrante.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226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Próximo foco: precisión y validación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23696"/>
            <a:ext cx="2540000" cy="2052320"/>
          </a:xfrm>
          <a:prstGeom prst="roundRect">
            <a:avLst>
              <a:gd name="adj" fmla="val 4796"/>
            </a:avLst>
          </a:prstGeom>
          <a:solidFill>
            <a:srgbClr val="FFFFFF"/>
          </a:solidFill>
          <a:ln w="6350">
            <a:solidFill>
              <a:srgbClr val="DFE2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6480" y="1854200"/>
            <a:ext cx="2141360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E879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Integrar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46480" y="2245364"/>
            <a:ext cx="2141360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Afinar el intercambio de resultados y errores entre IA, backend y frontend.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89325" y="1623696"/>
            <a:ext cx="2540000" cy="2052320"/>
          </a:xfrm>
          <a:prstGeom prst="roundRect">
            <a:avLst>
              <a:gd name="adj" fmla="val 4796"/>
            </a:avLst>
          </a:prstGeom>
          <a:solidFill>
            <a:srgbClr val="FFFFFF"/>
          </a:solidFill>
          <a:ln w="6350">
            <a:solidFill>
              <a:srgbClr val="DFE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19830" y="1854200"/>
            <a:ext cx="2141360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E879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Medir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719830" y="2245364"/>
            <a:ext cx="2141360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Videos de referencia para evaluar ángulos, repeticiones y estabilidad.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62675" y="1623696"/>
            <a:ext cx="2540000" cy="2052320"/>
          </a:xfrm>
          <a:prstGeom prst="roundRect">
            <a:avLst>
              <a:gd name="adj" fmla="val 4796"/>
            </a:avLst>
          </a:prstGeom>
          <a:solidFill>
            <a:srgbClr val="FFFFFF"/>
          </a:solidFill>
          <a:ln w="6350">
            <a:solidFill>
              <a:srgbClr val="DFE2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93180" y="1854200"/>
            <a:ext cx="2141360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E879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Validar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393180" y="2245364"/>
            <a:ext cx="2141360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Pruebas de integración y de carga con distintos videos y condiciones.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836025" y="1623696"/>
            <a:ext cx="2540000" cy="2052320"/>
          </a:xfrm>
          <a:prstGeom prst="roundRect">
            <a:avLst>
              <a:gd name="adj" fmla="val 4796"/>
            </a:avLst>
          </a:prstGeom>
          <a:solidFill>
            <a:srgbClr val="FFFFFF"/>
          </a:solidFill>
          <a:ln w="6350">
            <a:solidFill>
              <a:srgbClr val="DFE2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66530" y="1854200"/>
            <a:ext cx="2141360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E879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Priorizar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066530" y="2245364"/>
            <a:ext cx="2141360" cy="1225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Sentadilla, curl de bíceps y press de banca, y declarar cuándo el resultado deja de ser confiable.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3876042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4F5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Gracias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12800" y="5031742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E879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¿Preguntas?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12800" y="57785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1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Biometra · Avance Fase 2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ometra – Avance Fase 2">
  <a:themeElements>
    <a:clrScheme name="Biometra – Avance Fase 2">
      <a:dk1>
        <a:srgbClr val="12263A"/>
      </a:dk1>
      <a:lt1>
        <a:srgbClr val="F4F5F0"/>
      </a:lt1>
      <a:dk2>
        <a:srgbClr val="4B5A68"/>
      </a:dk2>
      <a:lt2>
        <a:srgbClr val="DDE0DE"/>
      </a:lt2>
      <a:accent1>
        <a:srgbClr val="E8793A"/>
      </a:accent1>
      <a:accent2>
        <a:srgbClr val="C9D1D8"/>
      </a:accent2>
      <a:accent3>
        <a:srgbClr val="5B6B7A"/>
      </a:accent3>
      <a:accent4>
        <a:srgbClr val="9AA0A6"/>
      </a:accent4>
      <a:accent5>
        <a:srgbClr val="6C7983"/>
      </a:accent5>
      <a:accent6>
        <a:srgbClr val="8E989E"/>
      </a:accent6>
      <a:hlink>
        <a:srgbClr val="0563C1"/>
      </a:hlink>
      <a:folHlink>
        <a:srgbClr val="954F72"/>
      </a:folHlink>
    </a:clrScheme>
    <a:fontScheme name="Biometra – Avance Fase 2">
      <a:majorFont>
        <a:latin typeface="Helvetica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 Neu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Biometra – Avance Fase 2</dc:title>
  <dc:subject/>
  <dc:creator/>
  <cp:lastModifiedBy/>
  <cp:revision>1</cp:revision>
  <dcterms:created xsi:type="dcterms:W3CDTF">2026-10-09T13:14:16Z</dcterms:created>
  <dcterms:modified xsi:type="dcterms:W3CDTF">2026-10-09T13:14:16Z</dcterms:modified>
</cp:coreProperties>
</file>